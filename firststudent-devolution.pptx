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286000"/>
          </a:xfrm>
          <a:prstGeom prst="rect">
            <a:avLst/>
          </a:prstGeom>
          <a:noFill/>
        </p:spPr>
        <p:txBody>
          <a:bodyPr wrap="square">
            <a:spAutoFit/>
          </a:bodyPr>
          <a:lstStyle/>
          <a:p>
            <a:r>
              <a:rPr sz="5000" b="1">
                <a:solidFill>
                  <a:srgbClr val="FFFFFF"/>
                </a:solidFill>
                <a:latin typeface="Arial"/>
              </a:rPr>
              <a:t>The AI Workforce for First Student</a:t>
            </a:r>
          </a:p>
          <a:p>
            <a:r>
              <a:rPr sz="1600">
                <a:solidFill>
                  <a:srgbClr val="373737"/>
                </a:solidFill>
                <a:latin typeface="Arial"/>
              </a:rPr>
              <a:t>Enterprise AI Deployment Proposal  |  Student Transportation  |  2026</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FIRST STUDENT AT A GLANCE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largest student transportation</a:t>
            </a:r>
          </a:p>
          <a:p>
            <a:r>
              <a:rPr sz="3800" b="1">
                <a:solidFill>
                  <a:srgbClr val="22D3EE"/>
                </a:solidFill>
                <a:latin typeface="Arial"/>
              </a:rPr>
              <a:t>company in North America.</a:t>
            </a:r>
          </a:p>
        </p:txBody>
      </p:sp>
      <p:sp>
        <p:nvSpPr>
          <p:cNvPr id="4" name="Rectangle 3"/>
          <p:cNvSpPr/>
          <p:nvPr/>
        </p:nvSpPr>
        <p:spPr>
          <a:xfrm>
            <a:off x="73152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3108960"/>
            <a:ext cx="2377440" cy="822960"/>
          </a:xfrm>
          <a:prstGeom prst="rect">
            <a:avLst/>
          </a:prstGeom>
          <a:noFill/>
        </p:spPr>
        <p:txBody>
          <a:bodyPr wrap="square">
            <a:spAutoFit/>
          </a:bodyPr>
          <a:lstStyle/>
          <a:p>
            <a:pPr algn="l"/>
            <a:r>
              <a:rPr sz="3600" b="1" i="0">
                <a:solidFill>
                  <a:srgbClr val="22D3EE"/>
                </a:solidFill>
                <a:latin typeface="Arial"/>
              </a:rPr>
              <a:t>63,000</a:t>
            </a:r>
          </a:p>
        </p:txBody>
      </p:sp>
      <p:sp>
        <p:nvSpPr>
          <p:cNvPr id="6" name="TextBox 5"/>
          <p:cNvSpPr txBox="1"/>
          <p:nvPr/>
        </p:nvSpPr>
        <p:spPr>
          <a:xfrm>
            <a:off x="868680" y="3977639"/>
            <a:ext cx="2377440" cy="347472"/>
          </a:xfrm>
          <a:prstGeom prst="rect">
            <a:avLst/>
          </a:prstGeom>
          <a:noFill/>
        </p:spPr>
        <p:txBody>
          <a:bodyPr wrap="square">
            <a:spAutoFit/>
          </a:bodyPr>
          <a:lstStyle/>
          <a:p>
            <a:pPr algn="l"/>
            <a:r>
              <a:rPr sz="1300" b="1" i="0">
                <a:solidFill>
                  <a:srgbClr val="FFFFFF"/>
                </a:solidFill>
                <a:latin typeface="Arial"/>
              </a:rPr>
              <a:t>Employees</a:t>
            </a:r>
          </a:p>
        </p:txBody>
      </p:sp>
      <p:sp>
        <p:nvSpPr>
          <p:cNvPr id="7" name="TextBox 6"/>
          <p:cNvSpPr txBox="1"/>
          <p:nvPr/>
        </p:nvSpPr>
        <p:spPr>
          <a:xfrm>
            <a:off x="868680" y="4389120"/>
            <a:ext cx="2377440" cy="640080"/>
          </a:xfrm>
          <a:prstGeom prst="rect">
            <a:avLst/>
          </a:prstGeom>
          <a:noFill/>
        </p:spPr>
        <p:txBody>
          <a:bodyPr wrap="square">
            <a:spAutoFit/>
          </a:bodyPr>
          <a:lstStyle/>
          <a:p>
            <a:pPr algn="l"/>
            <a:r>
              <a:rPr sz="1100" b="0" i="0">
                <a:solidFill>
                  <a:srgbClr val="737373"/>
                </a:solidFill>
                <a:latin typeface="Arial"/>
              </a:rPr>
              <a:t>500+ locations in the US and Canada</a:t>
            </a:r>
          </a:p>
        </p:txBody>
      </p:sp>
      <p:sp>
        <p:nvSpPr>
          <p:cNvPr id="8" name="Rectangle 7"/>
          <p:cNvSpPr/>
          <p:nvPr/>
        </p:nvSpPr>
        <p:spPr>
          <a:xfrm>
            <a:off x="356616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3108960"/>
            <a:ext cx="2377440" cy="822960"/>
          </a:xfrm>
          <a:prstGeom prst="rect">
            <a:avLst/>
          </a:prstGeom>
          <a:noFill/>
        </p:spPr>
        <p:txBody>
          <a:bodyPr wrap="square">
            <a:spAutoFit/>
          </a:bodyPr>
          <a:lstStyle/>
          <a:p>
            <a:pPr algn="l"/>
            <a:r>
              <a:rPr sz="3600" b="1" i="0">
                <a:solidFill>
                  <a:srgbClr val="22D3EE"/>
                </a:solidFill>
                <a:latin typeface="Arial"/>
              </a:rPr>
              <a:t>47,000</a:t>
            </a:r>
          </a:p>
        </p:txBody>
      </p:sp>
      <p:sp>
        <p:nvSpPr>
          <p:cNvPr id="10" name="TextBox 9"/>
          <p:cNvSpPr txBox="1"/>
          <p:nvPr/>
        </p:nvSpPr>
        <p:spPr>
          <a:xfrm>
            <a:off x="3703320" y="3977639"/>
            <a:ext cx="2377440" cy="347472"/>
          </a:xfrm>
          <a:prstGeom prst="rect">
            <a:avLst/>
          </a:prstGeom>
          <a:noFill/>
        </p:spPr>
        <p:txBody>
          <a:bodyPr wrap="square">
            <a:spAutoFit/>
          </a:bodyPr>
          <a:lstStyle/>
          <a:p>
            <a:pPr algn="l"/>
            <a:r>
              <a:rPr sz="1300" b="1" i="0">
                <a:solidFill>
                  <a:srgbClr val="FFFFFF"/>
                </a:solidFill>
                <a:latin typeface="Arial"/>
              </a:rPr>
              <a:t>Vehicles</a:t>
            </a:r>
          </a:p>
        </p:txBody>
      </p:sp>
      <p:sp>
        <p:nvSpPr>
          <p:cNvPr id="11" name="TextBox 10"/>
          <p:cNvSpPr txBox="1"/>
          <p:nvPr/>
        </p:nvSpPr>
        <p:spPr>
          <a:xfrm>
            <a:off x="3703320" y="4389120"/>
            <a:ext cx="2377440" cy="640080"/>
          </a:xfrm>
          <a:prstGeom prst="rect">
            <a:avLst/>
          </a:prstGeom>
          <a:noFill/>
        </p:spPr>
        <p:txBody>
          <a:bodyPr wrap="square">
            <a:spAutoFit/>
          </a:bodyPr>
          <a:lstStyle/>
          <a:p>
            <a:pPr algn="l"/>
            <a:r>
              <a:rPr sz="1100" b="0" i="0">
                <a:solidFill>
                  <a:srgbClr val="737373"/>
                </a:solidFill>
                <a:latin typeface="Arial"/>
              </a:rPr>
              <a:t>Largest school bus fleet in the industry</a:t>
            </a:r>
          </a:p>
        </p:txBody>
      </p:sp>
      <p:sp>
        <p:nvSpPr>
          <p:cNvPr id="12" name="Rectangle 11"/>
          <p:cNvSpPr/>
          <p:nvPr/>
        </p:nvSpPr>
        <p:spPr>
          <a:xfrm>
            <a:off x="640080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3108960"/>
            <a:ext cx="2377440" cy="822960"/>
          </a:xfrm>
          <a:prstGeom prst="rect">
            <a:avLst/>
          </a:prstGeom>
          <a:noFill/>
        </p:spPr>
        <p:txBody>
          <a:bodyPr wrap="square">
            <a:spAutoFit/>
          </a:bodyPr>
          <a:lstStyle/>
          <a:p>
            <a:pPr algn="l"/>
            <a:r>
              <a:rPr sz="3600" b="1" i="0">
                <a:solidFill>
                  <a:srgbClr val="22D3EE"/>
                </a:solidFill>
                <a:latin typeface="Arial"/>
              </a:rPr>
              <a:t>4.6M+</a:t>
            </a:r>
          </a:p>
        </p:txBody>
      </p:sp>
      <p:sp>
        <p:nvSpPr>
          <p:cNvPr id="14" name="TextBox 13"/>
          <p:cNvSpPr txBox="1"/>
          <p:nvPr/>
        </p:nvSpPr>
        <p:spPr>
          <a:xfrm>
            <a:off x="6537960" y="3977639"/>
            <a:ext cx="2377440" cy="347472"/>
          </a:xfrm>
          <a:prstGeom prst="rect">
            <a:avLst/>
          </a:prstGeom>
          <a:noFill/>
        </p:spPr>
        <p:txBody>
          <a:bodyPr wrap="square">
            <a:spAutoFit/>
          </a:bodyPr>
          <a:lstStyle/>
          <a:p>
            <a:pPr algn="l"/>
            <a:r>
              <a:rPr sz="1300" b="1" i="0">
                <a:solidFill>
                  <a:srgbClr val="FFFFFF"/>
                </a:solidFill>
                <a:latin typeface="Arial"/>
              </a:rPr>
              <a:t>Daily Journeys</a:t>
            </a:r>
          </a:p>
        </p:txBody>
      </p:sp>
      <p:sp>
        <p:nvSpPr>
          <p:cNvPr id="15" name="TextBox 14"/>
          <p:cNvSpPr txBox="1"/>
          <p:nvPr/>
        </p:nvSpPr>
        <p:spPr>
          <a:xfrm>
            <a:off x="6537960" y="4389120"/>
            <a:ext cx="2377440" cy="640080"/>
          </a:xfrm>
          <a:prstGeom prst="rect">
            <a:avLst/>
          </a:prstGeom>
          <a:noFill/>
        </p:spPr>
        <p:txBody>
          <a:bodyPr wrap="square">
            <a:spAutoFit/>
          </a:bodyPr>
          <a:lstStyle/>
          <a:p>
            <a:pPr algn="l"/>
            <a:r>
              <a:rPr sz="1100" b="0" i="0">
                <a:solidFill>
                  <a:srgbClr val="737373"/>
                </a:solidFill>
                <a:latin typeface="Arial"/>
              </a:rPr>
              <a:t>Student trips completed every single day</a:t>
            </a:r>
          </a:p>
        </p:txBody>
      </p:sp>
      <p:sp>
        <p:nvSpPr>
          <p:cNvPr id="16" name="Rectangle 15"/>
          <p:cNvSpPr/>
          <p:nvPr/>
        </p:nvSpPr>
        <p:spPr>
          <a:xfrm>
            <a:off x="9235440" y="2926080"/>
            <a:ext cx="2651760" cy="2560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72600" y="3108960"/>
            <a:ext cx="2377440" cy="822960"/>
          </a:xfrm>
          <a:prstGeom prst="rect">
            <a:avLst/>
          </a:prstGeom>
          <a:noFill/>
        </p:spPr>
        <p:txBody>
          <a:bodyPr wrap="square">
            <a:spAutoFit/>
          </a:bodyPr>
          <a:lstStyle/>
          <a:p>
            <a:pPr algn="l"/>
            <a:r>
              <a:rPr sz="3600" b="1" i="0">
                <a:solidFill>
                  <a:srgbClr val="22D3EE"/>
                </a:solidFill>
                <a:latin typeface="Arial"/>
              </a:rPr>
              <a:t>500+</a:t>
            </a:r>
          </a:p>
        </p:txBody>
      </p:sp>
      <p:sp>
        <p:nvSpPr>
          <p:cNvPr id="18" name="TextBox 17"/>
          <p:cNvSpPr txBox="1"/>
          <p:nvPr/>
        </p:nvSpPr>
        <p:spPr>
          <a:xfrm>
            <a:off x="9372600" y="3977639"/>
            <a:ext cx="2377440" cy="347472"/>
          </a:xfrm>
          <a:prstGeom prst="rect">
            <a:avLst/>
          </a:prstGeom>
          <a:noFill/>
        </p:spPr>
        <p:txBody>
          <a:bodyPr wrap="square">
            <a:spAutoFit/>
          </a:bodyPr>
          <a:lstStyle/>
          <a:p>
            <a:pPr algn="l"/>
            <a:r>
              <a:rPr sz="1300" b="1" i="0">
                <a:solidFill>
                  <a:srgbClr val="FFFFFF"/>
                </a:solidFill>
                <a:latin typeface="Arial"/>
              </a:rPr>
              <a:t>Locations</a:t>
            </a:r>
          </a:p>
        </p:txBody>
      </p:sp>
      <p:sp>
        <p:nvSpPr>
          <p:cNvPr id="19" name="TextBox 18"/>
          <p:cNvSpPr txBox="1"/>
          <p:nvPr/>
        </p:nvSpPr>
        <p:spPr>
          <a:xfrm>
            <a:off x="9372600" y="4389120"/>
            <a:ext cx="2377440" cy="640080"/>
          </a:xfrm>
          <a:prstGeom prst="rect">
            <a:avLst/>
          </a:prstGeom>
          <a:noFill/>
        </p:spPr>
        <p:txBody>
          <a:bodyPr wrap="square">
            <a:spAutoFit/>
          </a:bodyPr>
          <a:lstStyle/>
          <a:p>
            <a:pPr algn="l"/>
            <a:r>
              <a:rPr sz="1100" b="0" i="0">
                <a:solidFill>
                  <a:srgbClr val="737373"/>
                </a:solidFill>
                <a:latin typeface="Arial"/>
              </a:rPr>
              <a:t>Operations across two countries</a:t>
            </a:r>
          </a:p>
        </p:txBody>
      </p:sp>
      <p:sp>
        <p:nvSpPr>
          <p:cNvPr id="20" name="TextBox 19"/>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PROBLEM</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Scale creates complexity.</a:t>
            </a:r>
          </a:p>
          <a:p>
            <a:r>
              <a:rPr sz="3800" b="1">
                <a:solidFill>
                  <a:srgbClr val="22D3EE"/>
                </a:solidFill>
                <a:latin typeface="Arial"/>
              </a:rPr>
              <a:t>Most of it is managed by people.</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280160"/>
          </a:xfrm>
          <a:prstGeom prst="rect">
            <a:avLst/>
          </a:prstGeom>
          <a:noFill/>
        </p:spPr>
        <p:txBody>
          <a:bodyPr wrap="square">
            <a:spAutoFit/>
          </a:bodyPr>
          <a:lstStyle/>
          <a:p>
            <a:pPr algn="l"/>
            <a:r>
              <a:rPr sz="1400" b="0" i="0">
                <a:solidFill>
                  <a:srgbClr val="737373"/>
                </a:solidFill>
                <a:latin typeface="Arial"/>
              </a:rPr>
              <a:t>At 500+ locations and 63,000 employees, First Student has thousands of people spending significant time on structured, repeatable coordination work. Route exception handling. Parent communications. Driver scheduling. Maintenance coordination. Compliance reporting. Every location is running the same back-office functions independently with no automation layer beneath them.</a:t>
            </a:r>
          </a:p>
        </p:txBody>
      </p:sp>
      <p:sp>
        <p:nvSpPr>
          <p:cNvPr id="6" name="TextBox 5"/>
          <p:cNvSpPr txBox="1"/>
          <p:nvPr/>
        </p:nvSpPr>
        <p:spPr>
          <a:xfrm>
            <a:off x="731520" y="4206240"/>
            <a:ext cx="10515600" cy="548640"/>
          </a:xfrm>
          <a:prstGeom prst="rect">
            <a:avLst/>
          </a:prstGeom>
          <a:noFill/>
        </p:spPr>
        <p:txBody>
          <a:bodyPr wrap="square">
            <a:spAutoFit/>
          </a:bodyPr>
          <a:lstStyle/>
          <a:p>
            <a:pPr algn="l"/>
            <a:r>
              <a:rPr sz="1500" b="1" i="0">
                <a:solidFill>
                  <a:srgbClr val="FFFFFF"/>
                </a:solidFill>
                <a:latin typeface="Arial"/>
              </a:rPr>
              <a:t>That is not a people problem. It is a workflow design problem. Devolution Labs fixes it.</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 OPERATIONS AND DISPATCH</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Six agents.</a:t>
            </a:r>
          </a:p>
          <a:p>
            <a:r>
              <a:rPr sz="3800" b="1">
                <a:solidFill>
                  <a:srgbClr val="22D3EE"/>
                </a:solidFill>
                <a:latin typeface="Arial"/>
              </a:rPr>
              <a:t>Every operational function covered.</a:t>
            </a:r>
          </a:p>
        </p:txBody>
      </p:sp>
      <p:sp>
        <p:nvSpPr>
          <p:cNvPr id="4" name="Rectangle 3"/>
          <p:cNvSpPr/>
          <p:nvPr/>
        </p:nvSpPr>
        <p:spPr>
          <a:xfrm>
            <a:off x="731520" y="263347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OPERATIONS</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Route and Dispatch Agent</a:t>
            </a:r>
          </a:p>
        </p:txBody>
      </p:sp>
      <p:sp>
        <p:nvSpPr>
          <p:cNvPr id="8" name="TextBox 7"/>
          <p:cNvSpPr txBox="1"/>
          <p:nvPr/>
        </p:nvSpPr>
        <p:spPr>
          <a:xfrm>
            <a:off x="868680" y="3383280"/>
            <a:ext cx="3474720" cy="594360"/>
          </a:xfrm>
          <a:prstGeom prst="rect">
            <a:avLst/>
          </a:prstGeom>
          <a:noFill/>
        </p:spPr>
        <p:txBody>
          <a:bodyPr wrap="square">
            <a:spAutoFit/>
          </a:bodyPr>
          <a:lstStyle/>
          <a:p>
            <a:pPr algn="l"/>
            <a:r>
              <a:rPr sz="1100" b="0" i="0">
                <a:solidFill>
                  <a:srgbClr val="737373"/>
                </a:solidFill>
                <a:latin typeface="Arial"/>
              </a:rPr>
              <a:t>Monitors route exceptions in real time, flags delays, reroutes automatically, and communicates proactively with schools and parents before complaints arrive.</a:t>
            </a:r>
          </a:p>
        </p:txBody>
      </p:sp>
      <p:sp>
        <p:nvSpPr>
          <p:cNvPr id="9" name="Rectangle 8"/>
          <p:cNvSpPr/>
          <p:nvPr/>
        </p:nvSpPr>
        <p:spPr>
          <a:xfrm>
            <a:off x="4526280" y="263347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3B82F6"/>
                </a:solidFill>
                <a:latin typeface="Arial"/>
              </a:rPr>
              <a:t>SAFETY</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Safety Monitoring Agent</a:t>
            </a:r>
          </a:p>
        </p:txBody>
      </p:sp>
      <p:sp>
        <p:nvSpPr>
          <p:cNvPr id="13" name="TextBox 12"/>
          <p:cNvSpPr txBox="1"/>
          <p:nvPr/>
        </p:nvSpPr>
        <p:spPr>
          <a:xfrm>
            <a:off x="4663440" y="3383280"/>
            <a:ext cx="3474720" cy="594360"/>
          </a:xfrm>
          <a:prstGeom prst="rect">
            <a:avLst/>
          </a:prstGeom>
          <a:noFill/>
        </p:spPr>
        <p:txBody>
          <a:bodyPr wrap="square">
            <a:spAutoFit/>
          </a:bodyPr>
          <a:lstStyle/>
          <a:p>
            <a:pPr algn="l"/>
            <a:r>
              <a:rPr sz="1100" b="0" i="0">
                <a:solidFill>
                  <a:srgbClr val="737373"/>
                </a:solidFill>
                <a:latin typeface="Arial"/>
              </a:rPr>
              <a:t>Ingests telematics data to flag driver behavior anomalies, speeding, and safety threshold breaches. Escalates to supervisors with full documentation.</a:t>
            </a:r>
          </a:p>
        </p:txBody>
      </p:sp>
      <p:sp>
        <p:nvSpPr>
          <p:cNvPr id="14" name="Rectangle 13"/>
          <p:cNvSpPr/>
          <p:nvPr/>
        </p:nvSpPr>
        <p:spPr>
          <a:xfrm>
            <a:off x="8321040" y="263347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474720" cy="228600"/>
          </a:xfrm>
          <a:prstGeom prst="rect">
            <a:avLst/>
          </a:prstGeom>
          <a:noFill/>
        </p:spPr>
        <p:txBody>
          <a:bodyPr wrap="square">
            <a:spAutoFit/>
          </a:bodyPr>
          <a:lstStyle/>
          <a:p>
            <a:pPr algn="l"/>
            <a:r>
              <a:rPr sz="900" b="1" i="0">
                <a:solidFill>
                  <a:srgbClr val="8B5CF6"/>
                </a:solidFill>
                <a:latin typeface="Arial"/>
              </a:rPr>
              <a:t>WEATHER</a:t>
            </a:r>
          </a:p>
        </p:txBody>
      </p:sp>
      <p:sp>
        <p:nvSpPr>
          <p:cNvPr id="17" name="TextBox 16"/>
          <p:cNvSpPr txBox="1"/>
          <p:nvPr/>
        </p:nvSpPr>
        <p:spPr>
          <a:xfrm>
            <a:off x="8458200" y="2980944"/>
            <a:ext cx="3474720" cy="347472"/>
          </a:xfrm>
          <a:prstGeom prst="rect">
            <a:avLst/>
          </a:prstGeom>
          <a:noFill/>
        </p:spPr>
        <p:txBody>
          <a:bodyPr wrap="square">
            <a:spAutoFit/>
          </a:bodyPr>
          <a:lstStyle/>
          <a:p>
            <a:pPr algn="l"/>
            <a:r>
              <a:rPr sz="1300" b="1" i="0">
                <a:solidFill>
                  <a:srgbClr val="FFFFFF"/>
                </a:solidFill>
                <a:latin typeface="Arial"/>
              </a:rPr>
              <a:t>Weather and Delay Agent</a:t>
            </a:r>
          </a:p>
        </p:txBody>
      </p:sp>
      <p:sp>
        <p:nvSpPr>
          <p:cNvPr id="18" name="TextBox 17"/>
          <p:cNvSpPr txBox="1"/>
          <p:nvPr/>
        </p:nvSpPr>
        <p:spPr>
          <a:xfrm>
            <a:off x="8458200" y="3383280"/>
            <a:ext cx="3474720" cy="594360"/>
          </a:xfrm>
          <a:prstGeom prst="rect">
            <a:avLst/>
          </a:prstGeom>
          <a:noFill/>
        </p:spPr>
        <p:txBody>
          <a:bodyPr wrap="square">
            <a:spAutoFit/>
          </a:bodyPr>
          <a:lstStyle/>
          <a:p>
            <a:pPr algn="l"/>
            <a:r>
              <a:rPr sz="1100" b="0" i="0">
                <a:solidFill>
                  <a:srgbClr val="737373"/>
                </a:solidFill>
                <a:latin typeface="Arial"/>
              </a:rPr>
              <a:t>Monitors weather and road conditions across all 500+ service areas. Proactively adjusts routes and triggers delay communications before conditions worsen.</a:t>
            </a:r>
          </a:p>
        </p:txBody>
      </p:sp>
      <p:sp>
        <p:nvSpPr>
          <p:cNvPr id="19" name="Rectangle 18"/>
          <p:cNvSpPr/>
          <p:nvPr/>
        </p:nvSpPr>
        <p:spPr>
          <a:xfrm>
            <a:off x="731520" y="418795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8795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79392"/>
            <a:ext cx="3474720" cy="228600"/>
          </a:xfrm>
          <a:prstGeom prst="rect">
            <a:avLst/>
          </a:prstGeom>
          <a:noFill/>
        </p:spPr>
        <p:txBody>
          <a:bodyPr wrap="square">
            <a:spAutoFit/>
          </a:bodyPr>
          <a:lstStyle/>
          <a:p>
            <a:pPr algn="l"/>
            <a:r>
              <a:rPr sz="900" b="1" i="0">
                <a:solidFill>
                  <a:srgbClr val="10B981"/>
                </a:solidFill>
                <a:latin typeface="Arial"/>
              </a:rPr>
              <a:t>SPECIAL NEEDS</a:t>
            </a:r>
          </a:p>
        </p:txBody>
      </p:sp>
      <p:sp>
        <p:nvSpPr>
          <p:cNvPr id="22" name="TextBox 21"/>
          <p:cNvSpPr txBox="1"/>
          <p:nvPr/>
        </p:nvSpPr>
        <p:spPr>
          <a:xfrm>
            <a:off x="868680" y="4535424"/>
            <a:ext cx="3474720" cy="347472"/>
          </a:xfrm>
          <a:prstGeom prst="rect">
            <a:avLst/>
          </a:prstGeom>
          <a:noFill/>
        </p:spPr>
        <p:txBody>
          <a:bodyPr wrap="square">
            <a:spAutoFit/>
          </a:bodyPr>
          <a:lstStyle/>
          <a:p>
            <a:pPr algn="l"/>
            <a:r>
              <a:rPr sz="1300" b="1" i="0">
                <a:solidFill>
                  <a:srgbClr val="FFFFFF"/>
                </a:solidFill>
                <a:latin typeface="Arial"/>
              </a:rPr>
              <a:t>Special Needs Transportation Agent</a:t>
            </a:r>
          </a:p>
        </p:txBody>
      </p:sp>
      <p:sp>
        <p:nvSpPr>
          <p:cNvPr id="23" name="TextBox 22"/>
          <p:cNvSpPr txBox="1"/>
          <p:nvPr/>
        </p:nvSpPr>
        <p:spPr>
          <a:xfrm>
            <a:off x="868680" y="4937760"/>
            <a:ext cx="3474720" cy="594360"/>
          </a:xfrm>
          <a:prstGeom prst="rect">
            <a:avLst/>
          </a:prstGeom>
          <a:noFill/>
        </p:spPr>
        <p:txBody>
          <a:bodyPr wrap="square">
            <a:spAutoFit/>
          </a:bodyPr>
          <a:lstStyle/>
          <a:p>
            <a:pPr algn="l"/>
            <a:r>
              <a:rPr sz="1100" b="0" i="0">
                <a:solidFill>
                  <a:srgbClr val="737373"/>
                </a:solidFill>
                <a:latin typeface="Arial"/>
              </a:rPr>
              <a:t>Manages IEP requirements, specialized vehicle assignments, aide scheduling, and parent communication. Zero compliance gaps.</a:t>
            </a:r>
          </a:p>
        </p:txBody>
      </p:sp>
      <p:sp>
        <p:nvSpPr>
          <p:cNvPr id="24" name="Rectangle 23"/>
          <p:cNvSpPr/>
          <p:nvPr/>
        </p:nvSpPr>
        <p:spPr>
          <a:xfrm>
            <a:off x="4526280" y="418795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18795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279392"/>
            <a:ext cx="3474720" cy="228600"/>
          </a:xfrm>
          <a:prstGeom prst="rect">
            <a:avLst/>
          </a:prstGeom>
          <a:noFill/>
        </p:spPr>
        <p:txBody>
          <a:bodyPr wrap="square">
            <a:spAutoFit/>
          </a:bodyPr>
          <a:lstStyle/>
          <a:p>
            <a:pPr algn="l"/>
            <a:r>
              <a:rPr sz="900" b="1" i="0">
                <a:solidFill>
                  <a:srgbClr val="F59E0B"/>
                </a:solidFill>
                <a:latin typeface="Arial"/>
              </a:rPr>
              <a:t>INCIDENTS</a:t>
            </a:r>
          </a:p>
        </p:txBody>
      </p:sp>
      <p:sp>
        <p:nvSpPr>
          <p:cNvPr id="27" name="TextBox 26"/>
          <p:cNvSpPr txBox="1"/>
          <p:nvPr/>
        </p:nvSpPr>
        <p:spPr>
          <a:xfrm>
            <a:off x="4663440" y="4535424"/>
            <a:ext cx="3474720" cy="347472"/>
          </a:xfrm>
          <a:prstGeom prst="rect">
            <a:avLst/>
          </a:prstGeom>
          <a:noFill/>
        </p:spPr>
        <p:txBody>
          <a:bodyPr wrap="square">
            <a:spAutoFit/>
          </a:bodyPr>
          <a:lstStyle/>
          <a:p>
            <a:pPr algn="l"/>
            <a:r>
              <a:rPr sz="1300" b="1" i="0">
                <a:solidFill>
                  <a:srgbClr val="FFFFFF"/>
                </a:solidFill>
                <a:latin typeface="Arial"/>
              </a:rPr>
              <a:t>Incident Response Agent</a:t>
            </a:r>
          </a:p>
        </p:txBody>
      </p:sp>
      <p:sp>
        <p:nvSpPr>
          <p:cNvPr id="28" name="TextBox 27"/>
          <p:cNvSpPr txBox="1"/>
          <p:nvPr/>
        </p:nvSpPr>
        <p:spPr>
          <a:xfrm>
            <a:off x="4663440" y="4937760"/>
            <a:ext cx="3474720" cy="594360"/>
          </a:xfrm>
          <a:prstGeom prst="rect">
            <a:avLst/>
          </a:prstGeom>
          <a:noFill/>
        </p:spPr>
        <p:txBody>
          <a:bodyPr wrap="square">
            <a:spAutoFit/>
          </a:bodyPr>
          <a:lstStyle/>
          <a:p>
            <a:pPr algn="l"/>
            <a:r>
              <a:rPr sz="1100" b="0" i="0">
                <a:solidFill>
                  <a:srgbClr val="737373"/>
                </a:solidFill>
                <a:latin typeface="Arial"/>
              </a:rPr>
              <a:t>Coordinates replacement vehicles, notifies all parties simultaneously, and generates full incident reports automatically when breakdowns or accidents occur.</a:t>
            </a:r>
          </a:p>
        </p:txBody>
      </p:sp>
      <p:sp>
        <p:nvSpPr>
          <p:cNvPr id="29" name="Rectangle 28"/>
          <p:cNvSpPr/>
          <p:nvPr/>
        </p:nvSpPr>
        <p:spPr>
          <a:xfrm>
            <a:off x="8321040" y="418795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187952"/>
            <a:ext cx="36576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279392"/>
            <a:ext cx="3474720" cy="228600"/>
          </a:xfrm>
          <a:prstGeom prst="rect">
            <a:avLst/>
          </a:prstGeom>
          <a:noFill/>
        </p:spPr>
        <p:txBody>
          <a:bodyPr wrap="square">
            <a:spAutoFit/>
          </a:bodyPr>
          <a:lstStyle/>
          <a:p>
            <a:pPr algn="l"/>
            <a:r>
              <a:rPr sz="900" b="1" i="0">
                <a:solidFill>
                  <a:srgbClr val="EF4444"/>
                </a:solidFill>
                <a:latin typeface="Arial"/>
              </a:rPr>
              <a:t>PARENTS</a:t>
            </a:r>
          </a:p>
        </p:txBody>
      </p:sp>
      <p:sp>
        <p:nvSpPr>
          <p:cNvPr id="32" name="TextBox 31"/>
          <p:cNvSpPr txBox="1"/>
          <p:nvPr/>
        </p:nvSpPr>
        <p:spPr>
          <a:xfrm>
            <a:off x="8458200" y="4535424"/>
            <a:ext cx="3474720" cy="347472"/>
          </a:xfrm>
          <a:prstGeom prst="rect">
            <a:avLst/>
          </a:prstGeom>
          <a:noFill/>
        </p:spPr>
        <p:txBody>
          <a:bodyPr wrap="square">
            <a:spAutoFit/>
          </a:bodyPr>
          <a:lstStyle/>
          <a:p>
            <a:pPr algn="l"/>
            <a:r>
              <a:rPr sz="1300" b="1" i="0">
                <a:solidFill>
                  <a:srgbClr val="FFFFFF"/>
                </a:solidFill>
                <a:latin typeface="Arial"/>
              </a:rPr>
              <a:t>Parent Communications Agent</a:t>
            </a:r>
          </a:p>
        </p:txBody>
      </p:sp>
      <p:sp>
        <p:nvSpPr>
          <p:cNvPr id="33" name="TextBox 32"/>
          <p:cNvSpPr txBox="1"/>
          <p:nvPr/>
        </p:nvSpPr>
        <p:spPr>
          <a:xfrm>
            <a:off x="8458200" y="4937760"/>
            <a:ext cx="3474720" cy="594360"/>
          </a:xfrm>
          <a:prstGeom prst="rect">
            <a:avLst/>
          </a:prstGeom>
          <a:noFill/>
        </p:spPr>
        <p:txBody>
          <a:bodyPr wrap="square">
            <a:spAutoFit/>
          </a:bodyPr>
          <a:lstStyle/>
          <a:p>
            <a:pPr algn="l"/>
            <a:r>
              <a:rPr sz="1100" b="0" i="0">
                <a:solidFill>
                  <a:srgbClr val="737373"/>
                </a:solidFill>
                <a:latin typeface="Arial"/>
              </a:rPr>
              <a:t>Automated outbound notifications for every delay, route change, and arrival update. Every parent informed without a human touching it. 24/7.</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 PEOPLE, FLEET, AND FINANCE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Six more agents.</a:t>
            </a:r>
          </a:p>
          <a:p>
            <a:r>
              <a:rPr sz="3800" b="1">
                <a:solidFill>
                  <a:srgbClr val="22D3EE"/>
                </a:solidFill>
                <a:latin typeface="Arial"/>
              </a:rPr>
              <a:t>Every support function covered.</a:t>
            </a:r>
          </a:p>
        </p:txBody>
      </p:sp>
      <p:sp>
        <p:nvSpPr>
          <p:cNvPr id="4" name="Rectangle 3"/>
          <p:cNvSpPr/>
          <p:nvPr/>
        </p:nvSpPr>
        <p:spPr>
          <a:xfrm>
            <a:off x="731520" y="263347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HR + WORKFORCE</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Driver Scheduling Agent</a:t>
            </a:r>
          </a:p>
        </p:txBody>
      </p:sp>
      <p:sp>
        <p:nvSpPr>
          <p:cNvPr id="8" name="TextBox 7"/>
          <p:cNvSpPr txBox="1"/>
          <p:nvPr/>
        </p:nvSpPr>
        <p:spPr>
          <a:xfrm>
            <a:off x="868680" y="3383280"/>
            <a:ext cx="3474720" cy="594360"/>
          </a:xfrm>
          <a:prstGeom prst="rect">
            <a:avLst/>
          </a:prstGeom>
          <a:noFill/>
        </p:spPr>
        <p:txBody>
          <a:bodyPr wrap="square">
            <a:spAutoFit/>
          </a:bodyPr>
          <a:lstStyle/>
          <a:p>
            <a:pPr algn="l"/>
            <a:r>
              <a:rPr sz="1100" b="0" i="0">
                <a:solidFill>
                  <a:srgbClr val="737373"/>
                </a:solidFill>
                <a:latin typeface="Arial"/>
              </a:rPr>
              <a:t>Manages shift assignments, absence reporting, and replacement driver coordination automatically. Eliminates coverage gaps before they affect routes.</a:t>
            </a:r>
          </a:p>
        </p:txBody>
      </p:sp>
      <p:sp>
        <p:nvSpPr>
          <p:cNvPr id="9" name="Rectangle 8"/>
          <p:cNvSpPr/>
          <p:nvPr/>
        </p:nvSpPr>
        <p:spPr>
          <a:xfrm>
            <a:off x="4526280" y="263347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8B5CF6"/>
                </a:solidFill>
                <a:latin typeface="Arial"/>
              </a:rPr>
              <a:t>RECRUITING</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Driver Recruiting Agent</a:t>
            </a:r>
          </a:p>
        </p:txBody>
      </p:sp>
      <p:sp>
        <p:nvSpPr>
          <p:cNvPr id="13" name="TextBox 12"/>
          <p:cNvSpPr txBox="1"/>
          <p:nvPr/>
        </p:nvSpPr>
        <p:spPr>
          <a:xfrm>
            <a:off x="4663440" y="3383280"/>
            <a:ext cx="3474720" cy="594360"/>
          </a:xfrm>
          <a:prstGeom prst="rect">
            <a:avLst/>
          </a:prstGeom>
          <a:noFill/>
        </p:spPr>
        <p:txBody>
          <a:bodyPr wrap="square">
            <a:spAutoFit/>
          </a:bodyPr>
          <a:lstStyle/>
          <a:p>
            <a:pPr algn="l"/>
            <a:r>
              <a:rPr sz="1100" b="0" i="0">
                <a:solidFill>
                  <a:srgbClr val="737373"/>
                </a:solidFill>
                <a:latin typeface="Arial"/>
              </a:rPr>
              <a:t>Monitors job boards, screens applicants, schedules interviews, and tracks the candidate pipeline. CDL driver shortages addressed proactively.</a:t>
            </a:r>
          </a:p>
        </p:txBody>
      </p:sp>
      <p:sp>
        <p:nvSpPr>
          <p:cNvPr id="14" name="Rectangle 13"/>
          <p:cNvSpPr/>
          <p:nvPr/>
        </p:nvSpPr>
        <p:spPr>
          <a:xfrm>
            <a:off x="8321040" y="263347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474720" cy="228600"/>
          </a:xfrm>
          <a:prstGeom prst="rect">
            <a:avLst/>
          </a:prstGeom>
          <a:noFill/>
        </p:spPr>
        <p:txBody>
          <a:bodyPr wrap="square">
            <a:spAutoFit/>
          </a:bodyPr>
          <a:lstStyle/>
          <a:p>
            <a:pPr algn="l"/>
            <a:r>
              <a:rPr sz="900" b="1" i="0">
                <a:solidFill>
                  <a:srgbClr val="3B82F6"/>
                </a:solidFill>
                <a:latin typeface="Arial"/>
              </a:rPr>
              <a:t>FLEET</a:t>
            </a:r>
          </a:p>
        </p:txBody>
      </p:sp>
      <p:sp>
        <p:nvSpPr>
          <p:cNvPr id="17" name="TextBox 16"/>
          <p:cNvSpPr txBox="1"/>
          <p:nvPr/>
        </p:nvSpPr>
        <p:spPr>
          <a:xfrm>
            <a:off x="8458200" y="2980944"/>
            <a:ext cx="3474720" cy="347472"/>
          </a:xfrm>
          <a:prstGeom prst="rect">
            <a:avLst/>
          </a:prstGeom>
          <a:noFill/>
        </p:spPr>
        <p:txBody>
          <a:bodyPr wrap="square">
            <a:spAutoFit/>
          </a:bodyPr>
          <a:lstStyle/>
          <a:p>
            <a:pPr algn="l"/>
            <a:r>
              <a:rPr sz="1300" b="1" i="0">
                <a:solidFill>
                  <a:srgbClr val="FFFFFF"/>
                </a:solidFill>
                <a:latin typeface="Arial"/>
              </a:rPr>
              <a:t>Maintenance Coordination Agent</a:t>
            </a:r>
          </a:p>
        </p:txBody>
      </p:sp>
      <p:sp>
        <p:nvSpPr>
          <p:cNvPr id="18" name="TextBox 17"/>
          <p:cNvSpPr txBox="1"/>
          <p:nvPr/>
        </p:nvSpPr>
        <p:spPr>
          <a:xfrm>
            <a:off x="8458200" y="3383280"/>
            <a:ext cx="3474720" cy="594360"/>
          </a:xfrm>
          <a:prstGeom prst="rect">
            <a:avLst/>
          </a:prstGeom>
          <a:noFill/>
        </p:spPr>
        <p:txBody>
          <a:bodyPr wrap="square">
            <a:spAutoFit/>
          </a:bodyPr>
          <a:lstStyle/>
          <a:p>
            <a:pPr algn="l"/>
            <a:r>
              <a:rPr sz="1100" b="0" i="0">
                <a:solidFill>
                  <a:srgbClr val="737373"/>
                </a:solidFill>
                <a:latin typeface="Arial"/>
              </a:rPr>
              <a:t>Tracks service schedules, flags overdue maintenance, prioritizes shop queues, and coordinates parts across the entire 47,000-vehicle fleet.</a:t>
            </a:r>
          </a:p>
        </p:txBody>
      </p:sp>
      <p:sp>
        <p:nvSpPr>
          <p:cNvPr id="19" name="Rectangle 18"/>
          <p:cNvSpPr/>
          <p:nvPr/>
        </p:nvSpPr>
        <p:spPr>
          <a:xfrm>
            <a:off x="731520" y="418795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8795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79392"/>
            <a:ext cx="3474720" cy="228600"/>
          </a:xfrm>
          <a:prstGeom prst="rect">
            <a:avLst/>
          </a:prstGeom>
          <a:noFill/>
        </p:spPr>
        <p:txBody>
          <a:bodyPr wrap="square">
            <a:spAutoFit/>
          </a:bodyPr>
          <a:lstStyle/>
          <a:p>
            <a:pPr algn="l"/>
            <a:r>
              <a:rPr sz="900" b="1" i="0">
                <a:solidFill>
                  <a:srgbClr val="10B981"/>
                </a:solidFill>
                <a:latin typeface="Arial"/>
              </a:rPr>
              <a:t>FLEET INTELLIGENCE</a:t>
            </a:r>
          </a:p>
        </p:txBody>
      </p:sp>
      <p:sp>
        <p:nvSpPr>
          <p:cNvPr id="22" name="TextBox 21"/>
          <p:cNvSpPr txBox="1"/>
          <p:nvPr/>
        </p:nvSpPr>
        <p:spPr>
          <a:xfrm>
            <a:off x="868680" y="4535424"/>
            <a:ext cx="3474720" cy="347472"/>
          </a:xfrm>
          <a:prstGeom prst="rect">
            <a:avLst/>
          </a:prstGeom>
          <a:noFill/>
        </p:spPr>
        <p:txBody>
          <a:bodyPr wrap="square">
            <a:spAutoFit/>
          </a:bodyPr>
          <a:lstStyle/>
          <a:p>
            <a:pPr algn="l"/>
            <a:r>
              <a:rPr sz="1300" b="1" i="0">
                <a:solidFill>
                  <a:srgbClr val="FFFFFF"/>
                </a:solidFill>
                <a:latin typeface="Arial"/>
              </a:rPr>
              <a:t>Fuel and Cost Management Agent</a:t>
            </a:r>
          </a:p>
        </p:txBody>
      </p:sp>
      <p:sp>
        <p:nvSpPr>
          <p:cNvPr id="23" name="TextBox 22"/>
          <p:cNvSpPr txBox="1"/>
          <p:nvPr/>
        </p:nvSpPr>
        <p:spPr>
          <a:xfrm>
            <a:off x="868680" y="4937760"/>
            <a:ext cx="3474720" cy="594360"/>
          </a:xfrm>
          <a:prstGeom prst="rect">
            <a:avLst/>
          </a:prstGeom>
          <a:noFill/>
        </p:spPr>
        <p:txBody>
          <a:bodyPr wrap="square">
            <a:spAutoFit/>
          </a:bodyPr>
          <a:lstStyle/>
          <a:p>
            <a:pPr algn="l"/>
            <a:r>
              <a:rPr sz="1100" b="0" i="0">
                <a:solidFill>
                  <a:srgbClr val="737373"/>
                </a:solidFill>
                <a:latin typeface="Arial"/>
              </a:rPr>
              <a:t>Monitors fuel consumption across the fleet, flags inefficiencies, and surfaces cost reduction opportunities to fleet managers in real time.</a:t>
            </a:r>
          </a:p>
        </p:txBody>
      </p:sp>
      <p:sp>
        <p:nvSpPr>
          <p:cNvPr id="24" name="Rectangle 23"/>
          <p:cNvSpPr/>
          <p:nvPr/>
        </p:nvSpPr>
        <p:spPr>
          <a:xfrm>
            <a:off x="4526280" y="418795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18795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279392"/>
            <a:ext cx="3474720" cy="228600"/>
          </a:xfrm>
          <a:prstGeom prst="rect">
            <a:avLst/>
          </a:prstGeom>
          <a:noFill/>
        </p:spPr>
        <p:txBody>
          <a:bodyPr wrap="square">
            <a:spAutoFit/>
          </a:bodyPr>
          <a:lstStyle/>
          <a:p>
            <a:pPr algn="l"/>
            <a:r>
              <a:rPr sz="900" b="1" i="0">
                <a:solidFill>
                  <a:srgbClr val="F59E0B"/>
                </a:solidFill>
                <a:latin typeface="Arial"/>
              </a:rPr>
              <a:t>FINANCE</a:t>
            </a:r>
          </a:p>
        </p:txBody>
      </p:sp>
      <p:sp>
        <p:nvSpPr>
          <p:cNvPr id="27" name="TextBox 26"/>
          <p:cNvSpPr txBox="1"/>
          <p:nvPr/>
        </p:nvSpPr>
        <p:spPr>
          <a:xfrm>
            <a:off x="4663440" y="4535424"/>
            <a:ext cx="3474720" cy="347472"/>
          </a:xfrm>
          <a:prstGeom prst="rect">
            <a:avLst/>
          </a:prstGeom>
          <a:noFill/>
        </p:spPr>
        <p:txBody>
          <a:bodyPr wrap="square">
            <a:spAutoFit/>
          </a:bodyPr>
          <a:lstStyle/>
          <a:p>
            <a:pPr algn="l"/>
            <a:r>
              <a:rPr sz="1300" b="1" i="0">
                <a:solidFill>
                  <a:srgbClr val="FFFFFF"/>
                </a:solidFill>
                <a:latin typeface="Arial"/>
              </a:rPr>
              <a:t>Billing and Invoice Agent</a:t>
            </a:r>
          </a:p>
        </p:txBody>
      </p:sp>
      <p:sp>
        <p:nvSpPr>
          <p:cNvPr id="28" name="TextBox 27"/>
          <p:cNvSpPr txBox="1"/>
          <p:nvPr/>
        </p:nvSpPr>
        <p:spPr>
          <a:xfrm>
            <a:off x="4663440" y="4937760"/>
            <a:ext cx="3474720" cy="594360"/>
          </a:xfrm>
          <a:prstGeom prst="rect">
            <a:avLst/>
          </a:prstGeom>
          <a:noFill/>
        </p:spPr>
        <p:txBody>
          <a:bodyPr wrap="square">
            <a:spAutoFit/>
          </a:bodyPr>
          <a:lstStyle/>
          <a:p>
            <a:pPr algn="l"/>
            <a:r>
              <a:rPr sz="1100" b="0" i="0">
                <a:solidFill>
                  <a:srgbClr val="737373"/>
                </a:solidFill>
                <a:latin typeface="Arial"/>
              </a:rPr>
              <a:t>Manages district billing, invoice generation, contract reconciliation, and payment tracking across all 500 locations.</a:t>
            </a:r>
          </a:p>
        </p:txBody>
      </p:sp>
      <p:sp>
        <p:nvSpPr>
          <p:cNvPr id="29" name="Rectangle 28"/>
          <p:cNvSpPr/>
          <p:nvPr/>
        </p:nvSpPr>
        <p:spPr>
          <a:xfrm>
            <a:off x="8321040" y="4187952"/>
            <a:ext cx="3657600"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187952"/>
            <a:ext cx="36576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279392"/>
            <a:ext cx="3474720" cy="228600"/>
          </a:xfrm>
          <a:prstGeom prst="rect">
            <a:avLst/>
          </a:prstGeom>
          <a:noFill/>
        </p:spPr>
        <p:txBody>
          <a:bodyPr wrap="square">
            <a:spAutoFit/>
          </a:bodyPr>
          <a:lstStyle/>
          <a:p>
            <a:pPr algn="l"/>
            <a:r>
              <a:rPr sz="900" b="1" i="0">
                <a:solidFill>
                  <a:srgbClr val="EF4444"/>
                </a:solidFill>
                <a:latin typeface="Arial"/>
              </a:rPr>
              <a:t>COMPLIANCE</a:t>
            </a:r>
          </a:p>
        </p:txBody>
      </p:sp>
      <p:sp>
        <p:nvSpPr>
          <p:cNvPr id="32" name="TextBox 31"/>
          <p:cNvSpPr txBox="1"/>
          <p:nvPr/>
        </p:nvSpPr>
        <p:spPr>
          <a:xfrm>
            <a:off x="8458200" y="4535424"/>
            <a:ext cx="3474720" cy="347472"/>
          </a:xfrm>
          <a:prstGeom prst="rect">
            <a:avLst/>
          </a:prstGeom>
          <a:noFill/>
        </p:spPr>
        <p:txBody>
          <a:bodyPr wrap="square">
            <a:spAutoFit/>
          </a:bodyPr>
          <a:lstStyle/>
          <a:p>
            <a:pPr algn="l"/>
            <a:r>
              <a:rPr sz="1300" b="1" i="0">
                <a:solidFill>
                  <a:srgbClr val="FFFFFF"/>
                </a:solidFill>
                <a:latin typeface="Arial"/>
              </a:rPr>
              <a:t>Compliance and Reporting Agent</a:t>
            </a:r>
          </a:p>
        </p:txBody>
      </p:sp>
      <p:sp>
        <p:nvSpPr>
          <p:cNvPr id="33" name="TextBox 32"/>
          <p:cNvSpPr txBox="1"/>
          <p:nvPr/>
        </p:nvSpPr>
        <p:spPr>
          <a:xfrm>
            <a:off x="8458200" y="4937760"/>
            <a:ext cx="3474720" cy="594360"/>
          </a:xfrm>
          <a:prstGeom prst="rect">
            <a:avLst/>
          </a:prstGeom>
          <a:noFill/>
        </p:spPr>
        <p:txBody>
          <a:bodyPr wrap="square">
            <a:spAutoFit/>
          </a:bodyPr>
          <a:lstStyle/>
          <a:p>
            <a:pPr algn="l"/>
            <a:r>
              <a:rPr sz="1100" b="0" i="0">
                <a:solidFill>
                  <a:srgbClr val="737373"/>
                </a:solidFill>
                <a:latin typeface="Arial"/>
              </a:rPr>
              <a:t>Automated regulatory documentation across two countries. Driver certifications, inspection logs, incident reporting, and audit trails. Zero manual overhead.</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FINANCIAL MODEL — 6 MONTH PILOT (SINGLE REGION)</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One region. 12 agents.</a:t>
            </a:r>
          </a:p>
          <a:p>
            <a:r>
              <a:rPr sz="3600" b="1">
                <a:solidFill>
                  <a:srgbClr val="22D3EE"/>
                </a:solidFill>
                <a:latin typeface="Arial"/>
              </a:rPr>
              <a:t>$91M — $162M saved in 6 months.</a:t>
            </a:r>
          </a:p>
        </p:txBody>
      </p:sp>
      <p:sp>
        <p:nvSpPr>
          <p:cNvPr id="4" name="Rectangle 3"/>
          <p:cNvSpPr/>
          <p:nvPr/>
        </p:nvSpPr>
        <p:spPr>
          <a:xfrm>
            <a:off x="731520" y="2487168"/>
            <a:ext cx="47548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05456"/>
            <a:ext cx="4754880" cy="256032"/>
          </a:xfrm>
          <a:prstGeom prst="rect">
            <a:avLst/>
          </a:prstGeom>
          <a:noFill/>
        </p:spPr>
        <p:txBody>
          <a:bodyPr wrap="square">
            <a:spAutoFit/>
          </a:bodyPr>
          <a:lstStyle/>
          <a:p>
            <a:pPr algn="l"/>
            <a:r>
              <a:rPr sz="1000" b="1" i="0">
                <a:solidFill>
                  <a:srgbClr val="373737"/>
                </a:solidFill>
                <a:latin typeface="Arial"/>
              </a:rPr>
              <a:t>Agent Group</a:t>
            </a:r>
          </a:p>
        </p:txBody>
      </p:sp>
      <p:sp>
        <p:nvSpPr>
          <p:cNvPr id="6" name="Rectangle 5"/>
          <p:cNvSpPr/>
          <p:nvPr/>
        </p:nvSpPr>
        <p:spPr>
          <a:xfrm>
            <a:off x="5669280" y="2487168"/>
            <a:ext cx="320040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60720" y="2505456"/>
            <a:ext cx="3200400" cy="256032"/>
          </a:xfrm>
          <a:prstGeom prst="rect">
            <a:avLst/>
          </a:prstGeom>
          <a:noFill/>
        </p:spPr>
        <p:txBody>
          <a:bodyPr wrap="square">
            <a:spAutoFit/>
          </a:bodyPr>
          <a:lstStyle/>
          <a:p>
            <a:pPr algn="l"/>
            <a:r>
              <a:rPr sz="1000" b="1" i="0">
                <a:solidFill>
                  <a:srgbClr val="373737"/>
                </a:solidFill>
                <a:latin typeface="Arial"/>
              </a:rPr>
              <a:t>Headcount Impact</a:t>
            </a:r>
          </a:p>
        </p:txBody>
      </p:sp>
      <p:sp>
        <p:nvSpPr>
          <p:cNvPr id="8" name="Rectangle 7"/>
          <p:cNvSpPr/>
          <p:nvPr/>
        </p:nvSpPr>
        <p:spPr>
          <a:xfrm>
            <a:off x="9052560" y="2487168"/>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2505456"/>
            <a:ext cx="2926080" cy="256032"/>
          </a:xfrm>
          <a:prstGeom prst="rect">
            <a:avLst/>
          </a:prstGeom>
          <a:noFill/>
        </p:spPr>
        <p:txBody>
          <a:bodyPr wrap="square">
            <a:spAutoFit/>
          </a:bodyPr>
          <a:lstStyle/>
          <a:p>
            <a:pPr algn="l"/>
            <a:r>
              <a:rPr sz="1000" b="1" i="0">
                <a:solidFill>
                  <a:srgbClr val="373737"/>
                </a:solidFill>
                <a:latin typeface="Arial"/>
              </a:rPr>
              <a:t>6-Month Savings</a:t>
            </a:r>
          </a:p>
        </p:txBody>
      </p:sp>
      <p:sp>
        <p:nvSpPr>
          <p:cNvPr id="10" name="Rectangle 9"/>
          <p:cNvSpPr/>
          <p:nvPr/>
        </p:nvSpPr>
        <p:spPr>
          <a:xfrm>
            <a:off x="731520" y="2816352"/>
            <a:ext cx="47548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862072"/>
            <a:ext cx="4663440" cy="274320"/>
          </a:xfrm>
          <a:prstGeom prst="rect">
            <a:avLst/>
          </a:prstGeom>
          <a:noFill/>
        </p:spPr>
        <p:txBody>
          <a:bodyPr wrap="square">
            <a:spAutoFit/>
          </a:bodyPr>
          <a:lstStyle/>
          <a:p>
            <a:pPr algn="l"/>
            <a:r>
              <a:rPr sz="1000" b="0" i="0">
                <a:solidFill>
                  <a:srgbClr val="FFFFFF"/>
                </a:solidFill>
                <a:latin typeface="Arial"/>
              </a:rPr>
              <a:t>Route + Dispatch + Weather</a:t>
            </a:r>
          </a:p>
        </p:txBody>
      </p:sp>
      <p:sp>
        <p:nvSpPr>
          <p:cNvPr id="12" name="Rectangle 11"/>
          <p:cNvSpPr/>
          <p:nvPr/>
        </p:nvSpPr>
        <p:spPr>
          <a:xfrm>
            <a:off x="5669280" y="2816352"/>
            <a:ext cx="320040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2862072"/>
            <a:ext cx="3108960" cy="274320"/>
          </a:xfrm>
          <a:prstGeom prst="rect">
            <a:avLst/>
          </a:prstGeom>
          <a:noFill/>
        </p:spPr>
        <p:txBody>
          <a:bodyPr wrap="square">
            <a:spAutoFit/>
          </a:bodyPr>
          <a:lstStyle/>
          <a:p>
            <a:pPr algn="l"/>
            <a:r>
              <a:rPr sz="1000" b="0" i="0">
                <a:solidFill>
                  <a:srgbClr val="737373"/>
                </a:solidFill>
                <a:latin typeface="Arial"/>
              </a:rPr>
              <a:t>40-70 roles</a:t>
            </a:r>
          </a:p>
        </p:txBody>
      </p:sp>
      <p:sp>
        <p:nvSpPr>
          <p:cNvPr id="14" name="Rectangle 13"/>
          <p:cNvSpPr/>
          <p:nvPr/>
        </p:nvSpPr>
        <p:spPr>
          <a:xfrm>
            <a:off x="9052560" y="2816352"/>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2862072"/>
            <a:ext cx="2834640" cy="274320"/>
          </a:xfrm>
          <a:prstGeom prst="rect">
            <a:avLst/>
          </a:prstGeom>
          <a:noFill/>
        </p:spPr>
        <p:txBody>
          <a:bodyPr wrap="square">
            <a:spAutoFit/>
          </a:bodyPr>
          <a:lstStyle/>
          <a:p>
            <a:pPr algn="l"/>
            <a:r>
              <a:rPr sz="1000" b="0" i="0">
                <a:solidFill>
                  <a:srgbClr val="737373"/>
                </a:solidFill>
                <a:latin typeface="Arial"/>
              </a:rPr>
              <a:t>$21M-$38M</a:t>
            </a:r>
          </a:p>
        </p:txBody>
      </p:sp>
      <p:sp>
        <p:nvSpPr>
          <p:cNvPr id="16" name="Rectangle 15"/>
          <p:cNvSpPr/>
          <p:nvPr/>
        </p:nvSpPr>
        <p:spPr>
          <a:xfrm>
            <a:off x="731520" y="3200400"/>
            <a:ext cx="47548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246120"/>
            <a:ext cx="4663440" cy="274320"/>
          </a:xfrm>
          <a:prstGeom prst="rect">
            <a:avLst/>
          </a:prstGeom>
          <a:noFill/>
        </p:spPr>
        <p:txBody>
          <a:bodyPr wrap="square">
            <a:spAutoFit/>
          </a:bodyPr>
          <a:lstStyle/>
          <a:p>
            <a:pPr algn="l"/>
            <a:r>
              <a:rPr sz="1000" b="0" i="0">
                <a:solidFill>
                  <a:srgbClr val="FFFFFF"/>
                </a:solidFill>
                <a:latin typeface="Arial"/>
              </a:rPr>
              <a:t>Safety + Incident Response</a:t>
            </a:r>
          </a:p>
        </p:txBody>
      </p:sp>
      <p:sp>
        <p:nvSpPr>
          <p:cNvPr id="18" name="Rectangle 17"/>
          <p:cNvSpPr/>
          <p:nvPr/>
        </p:nvSpPr>
        <p:spPr>
          <a:xfrm>
            <a:off x="5669280" y="3200400"/>
            <a:ext cx="320040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42432" y="3246120"/>
            <a:ext cx="3108960" cy="274320"/>
          </a:xfrm>
          <a:prstGeom prst="rect">
            <a:avLst/>
          </a:prstGeom>
          <a:noFill/>
        </p:spPr>
        <p:txBody>
          <a:bodyPr wrap="square">
            <a:spAutoFit/>
          </a:bodyPr>
          <a:lstStyle/>
          <a:p>
            <a:pPr algn="l"/>
            <a:r>
              <a:rPr sz="1000" b="0" i="0">
                <a:solidFill>
                  <a:srgbClr val="737373"/>
                </a:solidFill>
                <a:latin typeface="Arial"/>
              </a:rPr>
              <a:t>20-35 roles</a:t>
            </a:r>
          </a:p>
        </p:txBody>
      </p:sp>
      <p:sp>
        <p:nvSpPr>
          <p:cNvPr id="20" name="Rectangle 19"/>
          <p:cNvSpPr/>
          <p:nvPr/>
        </p:nvSpPr>
        <p:spPr>
          <a:xfrm>
            <a:off x="9052560" y="3200400"/>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246120"/>
            <a:ext cx="2834640" cy="274320"/>
          </a:xfrm>
          <a:prstGeom prst="rect">
            <a:avLst/>
          </a:prstGeom>
          <a:noFill/>
        </p:spPr>
        <p:txBody>
          <a:bodyPr wrap="square">
            <a:spAutoFit/>
          </a:bodyPr>
          <a:lstStyle/>
          <a:p>
            <a:pPr algn="l"/>
            <a:r>
              <a:rPr sz="1000" b="0" i="0">
                <a:solidFill>
                  <a:srgbClr val="737373"/>
                </a:solidFill>
                <a:latin typeface="Arial"/>
              </a:rPr>
              <a:t>$10M-$18M</a:t>
            </a:r>
          </a:p>
        </p:txBody>
      </p:sp>
      <p:sp>
        <p:nvSpPr>
          <p:cNvPr id="22" name="Rectangle 21"/>
          <p:cNvSpPr/>
          <p:nvPr/>
        </p:nvSpPr>
        <p:spPr>
          <a:xfrm>
            <a:off x="731520" y="3584448"/>
            <a:ext cx="47548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630168"/>
            <a:ext cx="4663440" cy="274320"/>
          </a:xfrm>
          <a:prstGeom prst="rect">
            <a:avLst/>
          </a:prstGeom>
          <a:noFill/>
        </p:spPr>
        <p:txBody>
          <a:bodyPr wrap="square">
            <a:spAutoFit/>
          </a:bodyPr>
          <a:lstStyle/>
          <a:p>
            <a:pPr algn="l"/>
            <a:r>
              <a:rPr sz="1000" b="0" i="0">
                <a:solidFill>
                  <a:srgbClr val="FFFFFF"/>
                </a:solidFill>
                <a:latin typeface="Arial"/>
              </a:rPr>
              <a:t>Special Needs Transportation</a:t>
            </a:r>
          </a:p>
        </p:txBody>
      </p:sp>
      <p:sp>
        <p:nvSpPr>
          <p:cNvPr id="24" name="Rectangle 23"/>
          <p:cNvSpPr/>
          <p:nvPr/>
        </p:nvSpPr>
        <p:spPr>
          <a:xfrm>
            <a:off x="5669280" y="3584448"/>
            <a:ext cx="320040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42432" y="3630168"/>
            <a:ext cx="3108960" cy="274320"/>
          </a:xfrm>
          <a:prstGeom prst="rect">
            <a:avLst/>
          </a:prstGeom>
          <a:noFill/>
        </p:spPr>
        <p:txBody>
          <a:bodyPr wrap="square">
            <a:spAutoFit/>
          </a:bodyPr>
          <a:lstStyle/>
          <a:p>
            <a:pPr algn="l"/>
            <a:r>
              <a:rPr sz="1000" b="0" i="0">
                <a:solidFill>
                  <a:srgbClr val="737373"/>
                </a:solidFill>
                <a:latin typeface="Arial"/>
              </a:rPr>
              <a:t>15-25 roles</a:t>
            </a:r>
          </a:p>
        </p:txBody>
      </p:sp>
      <p:sp>
        <p:nvSpPr>
          <p:cNvPr id="26" name="Rectangle 25"/>
          <p:cNvSpPr/>
          <p:nvPr/>
        </p:nvSpPr>
        <p:spPr>
          <a:xfrm>
            <a:off x="9052560" y="3584448"/>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2" y="3630168"/>
            <a:ext cx="2834640" cy="274320"/>
          </a:xfrm>
          <a:prstGeom prst="rect">
            <a:avLst/>
          </a:prstGeom>
          <a:noFill/>
        </p:spPr>
        <p:txBody>
          <a:bodyPr wrap="square">
            <a:spAutoFit/>
          </a:bodyPr>
          <a:lstStyle/>
          <a:p>
            <a:pPr algn="l"/>
            <a:r>
              <a:rPr sz="1000" b="0" i="0">
                <a:solidFill>
                  <a:srgbClr val="737373"/>
                </a:solidFill>
                <a:latin typeface="Arial"/>
              </a:rPr>
              <a:t>$7M-$13M</a:t>
            </a:r>
          </a:p>
        </p:txBody>
      </p:sp>
      <p:sp>
        <p:nvSpPr>
          <p:cNvPr id="28" name="Rectangle 27"/>
          <p:cNvSpPr/>
          <p:nvPr/>
        </p:nvSpPr>
        <p:spPr>
          <a:xfrm>
            <a:off x="731520" y="3968496"/>
            <a:ext cx="47548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014216"/>
            <a:ext cx="4663440" cy="274320"/>
          </a:xfrm>
          <a:prstGeom prst="rect">
            <a:avLst/>
          </a:prstGeom>
          <a:noFill/>
        </p:spPr>
        <p:txBody>
          <a:bodyPr wrap="square">
            <a:spAutoFit/>
          </a:bodyPr>
          <a:lstStyle/>
          <a:p>
            <a:pPr algn="l"/>
            <a:r>
              <a:rPr sz="1000" b="0" i="0">
                <a:solidFill>
                  <a:srgbClr val="FFFFFF"/>
                </a:solidFill>
                <a:latin typeface="Arial"/>
              </a:rPr>
              <a:t>Parent Communications</a:t>
            </a:r>
          </a:p>
        </p:txBody>
      </p:sp>
      <p:sp>
        <p:nvSpPr>
          <p:cNvPr id="30" name="Rectangle 29"/>
          <p:cNvSpPr/>
          <p:nvPr/>
        </p:nvSpPr>
        <p:spPr>
          <a:xfrm>
            <a:off x="5669280" y="3968496"/>
            <a:ext cx="320040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42432" y="4014216"/>
            <a:ext cx="3108960" cy="274320"/>
          </a:xfrm>
          <a:prstGeom prst="rect">
            <a:avLst/>
          </a:prstGeom>
          <a:noFill/>
        </p:spPr>
        <p:txBody>
          <a:bodyPr wrap="square">
            <a:spAutoFit/>
          </a:bodyPr>
          <a:lstStyle/>
          <a:p>
            <a:pPr algn="l"/>
            <a:r>
              <a:rPr sz="1000" b="0" i="0">
                <a:solidFill>
                  <a:srgbClr val="737373"/>
                </a:solidFill>
                <a:latin typeface="Arial"/>
              </a:rPr>
              <a:t>30-50 roles</a:t>
            </a:r>
          </a:p>
        </p:txBody>
      </p:sp>
      <p:sp>
        <p:nvSpPr>
          <p:cNvPr id="32" name="Rectangle 31"/>
          <p:cNvSpPr/>
          <p:nvPr/>
        </p:nvSpPr>
        <p:spPr>
          <a:xfrm>
            <a:off x="9052560" y="3968496"/>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4014216"/>
            <a:ext cx="2834640" cy="274320"/>
          </a:xfrm>
          <a:prstGeom prst="rect">
            <a:avLst/>
          </a:prstGeom>
          <a:noFill/>
        </p:spPr>
        <p:txBody>
          <a:bodyPr wrap="square">
            <a:spAutoFit/>
          </a:bodyPr>
          <a:lstStyle/>
          <a:p>
            <a:pPr algn="l"/>
            <a:r>
              <a:rPr sz="1000" b="0" i="0">
                <a:solidFill>
                  <a:srgbClr val="737373"/>
                </a:solidFill>
                <a:latin typeface="Arial"/>
              </a:rPr>
              <a:t>$13M-$22M</a:t>
            </a:r>
          </a:p>
        </p:txBody>
      </p:sp>
      <p:sp>
        <p:nvSpPr>
          <p:cNvPr id="34" name="Rectangle 33"/>
          <p:cNvSpPr/>
          <p:nvPr/>
        </p:nvSpPr>
        <p:spPr>
          <a:xfrm>
            <a:off x="731520" y="4352544"/>
            <a:ext cx="47548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398264"/>
            <a:ext cx="4663440" cy="274320"/>
          </a:xfrm>
          <a:prstGeom prst="rect">
            <a:avLst/>
          </a:prstGeom>
          <a:noFill/>
        </p:spPr>
        <p:txBody>
          <a:bodyPr wrap="square">
            <a:spAutoFit/>
          </a:bodyPr>
          <a:lstStyle/>
          <a:p>
            <a:pPr algn="l"/>
            <a:r>
              <a:rPr sz="1000" b="0" i="0">
                <a:solidFill>
                  <a:srgbClr val="FFFFFF"/>
                </a:solidFill>
                <a:latin typeface="Arial"/>
              </a:rPr>
              <a:t>Driver Scheduling + Recruiting</a:t>
            </a:r>
          </a:p>
        </p:txBody>
      </p:sp>
      <p:sp>
        <p:nvSpPr>
          <p:cNvPr id="36" name="Rectangle 35"/>
          <p:cNvSpPr/>
          <p:nvPr/>
        </p:nvSpPr>
        <p:spPr>
          <a:xfrm>
            <a:off x="5669280" y="4352544"/>
            <a:ext cx="320040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42432" y="4398264"/>
            <a:ext cx="3108960" cy="274320"/>
          </a:xfrm>
          <a:prstGeom prst="rect">
            <a:avLst/>
          </a:prstGeom>
          <a:noFill/>
        </p:spPr>
        <p:txBody>
          <a:bodyPr wrap="square">
            <a:spAutoFit/>
          </a:bodyPr>
          <a:lstStyle/>
          <a:p>
            <a:pPr algn="l"/>
            <a:r>
              <a:rPr sz="1000" b="0" i="0">
                <a:solidFill>
                  <a:srgbClr val="737373"/>
                </a:solidFill>
                <a:latin typeface="Arial"/>
              </a:rPr>
              <a:t>25-45 roles</a:t>
            </a:r>
          </a:p>
        </p:txBody>
      </p:sp>
      <p:sp>
        <p:nvSpPr>
          <p:cNvPr id="38" name="Rectangle 37"/>
          <p:cNvSpPr/>
          <p:nvPr/>
        </p:nvSpPr>
        <p:spPr>
          <a:xfrm>
            <a:off x="9052560" y="4352544"/>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25712" y="4398264"/>
            <a:ext cx="2834640" cy="274320"/>
          </a:xfrm>
          <a:prstGeom prst="rect">
            <a:avLst/>
          </a:prstGeom>
          <a:noFill/>
        </p:spPr>
        <p:txBody>
          <a:bodyPr wrap="square">
            <a:spAutoFit/>
          </a:bodyPr>
          <a:lstStyle/>
          <a:p>
            <a:pPr algn="l"/>
            <a:r>
              <a:rPr sz="1000" b="0" i="0">
                <a:solidFill>
                  <a:srgbClr val="737373"/>
                </a:solidFill>
                <a:latin typeface="Arial"/>
              </a:rPr>
              <a:t>$12M-$21M</a:t>
            </a:r>
          </a:p>
        </p:txBody>
      </p:sp>
      <p:sp>
        <p:nvSpPr>
          <p:cNvPr id="40" name="Rectangle 39"/>
          <p:cNvSpPr/>
          <p:nvPr/>
        </p:nvSpPr>
        <p:spPr>
          <a:xfrm>
            <a:off x="731520" y="4736592"/>
            <a:ext cx="47548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782312"/>
            <a:ext cx="4663440" cy="274320"/>
          </a:xfrm>
          <a:prstGeom prst="rect">
            <a:avLst/>
          </a:prstGeom>
          <a:noFill/>
        </p:spPr>
        <p:txBody>
          <a:bodyPr wrap="square">
            <a:spAutoFit/>
          </a:bodyPr>
          <a:lstStyle/>
          <a:p>
            <a:pPr algn="l"/>
            <a:r>
              <a:rPr sz="1000" b="0" i="0">
                <a:solidFill>
                  <a:srgbClr val="FFFFFF"/>
                </a:solidFill>
                <a:latin typeface="Arial"/>
              </a:rPr>
              <a:t>Maintenance + Fuel Management</a:t>
            </a:r>
          </a:p>
        </p:txBody>
      </p:sp>
      <p:sp>
        <p:nvSpPr>
          <p:cNvPr id="42" name="Rectangle 41"/>
          <p:cNvSpPr/>
          <p:nvPr/>
        </p:nvSpPr>
        <p:spPr>
          <a:xfrm>
            <a:off x="5669280" y="4736592"/>
            <a:ext cx="320040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42432" y="4782312"/>
            <a:ext cx="3108960" cy="274320"/>
          </a:xfrm>
          <a:prstGeom prst="rect">
            <a:avLst/>
          </a:prstGeom>
          <a:noFill/>
        </p:spPr>
        <p:txBody>
          <a:bodyPr wrap="square">
            <a:spAutoFit/>
          </a:bodyPr>
          <a:lstStyle/>
          <a:p>
            <a:pPr algn="l"/>
            <a:r>
              <a:rPr sz="1000" b="0" i="0">
                <a:solidFill>
                  <a:srgbClr val="737373"/>
                </a:solidFill>
                <a:latin typeface="Arial"/>
              </a:rPr>
              <a:t>25-45 roles</a:t>
            </a:r>
          </a:p>
        </p:txBody>
      </p:sp>
      <p:sp>
        <p:nvSpPr>
          <p:cNvPr id="44" name="Rectangle 43"/>
          <p:cNvSpPr/>
          <p:nvPr/>
        </p:nvSpPr>
        <p:spPr>
          <a:xfrm>
            <a:off x="9052560" y="4736592"/>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4782312"/>
            <a:ext cx="2834640" cy="274320"/>
          </a:xfrm>
          <a:prstGeom prst="rect">
            <a:avLst/>
          </a:prstGeom>
          <a:noFill/>
        </p:spPr>
        <p:txBody>
          <a:bodyPr wrap="square">
            <a:spAutoFit/>
          </a:bodyPr>
          <a:lstStyle/>
          <a:p>
            <a:pPr algn="l"/>
            <a:r>
              <a:rPr sz="1000" b="0" i="0">
                <a:solidFill>
                  <a:srgbClr val="737373"/>
                </a:solidFill>
                <a:latin typeface="Arial"/>
              </a:rPr>
              <a:t>$12M-$21M</a:t>
            </a:r>
          </a:p>
        </p:txBody>
      </p:sp>
      <p:sp>
        <p:nvSpPr>
          <p:cNvPr id="46" name="Rectangle 45"/>
          <p:cNvSpPr/>
          <p:nvPr/>
        </p:nvSpPr>
        <p:spPr>
          <a:xfrm>
            <a:off x="731520" y="5120640"/>
            <a:ext cx="47548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5166360"/>
            <a:ext cx="4663440" cy="274320"/>
          </a:xfrm>
          <a:prstGeom prst="rect">
            <a:avLst/>
          </a:prstGeom>
          <a:noFill/>
        </p:spPr>
        <p:txBody>
          <a:bodyPr wrap="square">
            <a:spAutoFit/>
          </a:bodyPr>
          <a:lstStyle/>
          <a:p>
            <a:pPr algn="l"/>
            <a:r>
              <a:rPr sz="1000" b="0" i="0">
                <a:solidFill>
                  <a:srgbClr val="FFFFFF"/>
                </a:solidFill>
                <a:latin typeface="Arial"/>
              </a:rPr>
              <a:t>Billing and Invoice</a:t>
            </a:r>
          </a:p>
        </p:txBody>
      </p:sp>
      <p:sp>
        <p:nvSpPr>
          <p:cNvPr id="48" name="Rectangle 47"/>
          <p:cNvSpPr/>
          <p:nvPr/>
        </p:nvSpPr>
        <p:spPr>
          <a:xfrm>
            <a:off x="5669280" y="5120640"/>
            <a:ext cx="320040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742432" y="5166360"/>
            <a:ext cx="3108960" cy="274320"/>
          </a:xfrm>
          <a:prstGeom prst="rect">
            <a:avLst/>
          </a:prstGeom>
          <a:noFill/>
        </p:spPr>
        <p:txBody>
          <a:bodyPr wrap="square">
            <a:spAutoFit/>
          </a:bodyPr>
          <a:lstStyle/>
          <a:p>
            <a:pPr algn="l"/>
            <a:r>
              <a:rPr sz="1000" b="0" i="0">
                <a:solidFill>
                  <a:srgbClr val="737373"/>
                </a:solidFill>
                <a:latin typeface="Arial"/>
              </a:rPr>
              <a:t>15-25 roles</a:t>
            </a:r>
          </a:p>
        </p:txBody>
      </p:sp>
      <p:sp>
        <p:nvSpPr>
          <p:cNvPr id="50" name="Rectangle 49"/>
          <p:cNvSpPr/>
          <p:nvPr/>
        </p:nvSpPr>
        <p:spPr>
          <a:xfrm>
            <a:off x="9052560" y="5120640"/>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25712" y="5166360"/>
            <a:ext cx="2834640" cy="274320"/>
          </a:xfrm>
          <a:prstGeom prst="rect">
            <a:avLst/>
          </a:prstGeom>
          <a:noFill/>
        </p:spPr>
        <p:txBody>
          <a:bodyPr wrap="square">
            <a:spAutoFit/>
          </a:bodyPr>
          <a:lstStyle/>
          <a:p>
            <a:pPr algn="l"/>
            <a:r>
              <a:rPr sz="1000" b="0" i="0">
                <a:solidFill>
                  <a:srgbClr val="737373"/>
                </a:solidFill>
                <a:latin typeface="Arial"/>
              </a:rPr>
              <a:t>$7M-$13M</a:t>
            </a:r>
          </a:p>
        </p:txBody>
      </p:sp>
      <p:sp>
        <p:nvSpPr>
          <p:cNvPr id="52" name="Rectangle 51"/>
          <p:cNvSpPr/>
          <p:nvPr/>
        </p:nvSpPr>
        <p:spPr>
          <a:xfrm>
            <a:off x="731520" y="5504688"/>
            <a:ext cx="47548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672" y="5550408"/>
            <a:ext cx="4663440" cy="274320"/>
          </a:xfrm>
          <a:prstGeom prst="rect">
            <a:avLst/>
          </a:prstGeom>
          <a:noFill/>
        </p:spPr>
        <p:txBody>
          <a:bodyPr wrap="square">
            <a:spAutoFit/>
          </a:bodyPr>
          <a:lstStyle/>
          <a:p>
            <a:pPr algn="l"/>
            <a:r>
              <a:rPr sz="1000" b="0" i="0">
                <a:solidFill>
                  <a:srgbClr val="FFFFFF"/>
                </a:solidFill>
                <a:latin typeface="Arial"/>
              </a:rPr>
              <a:t>Compliance and Reporting</a:t>
            </a:r>
          </a:p>
        </p:txBody>
      </p:sp>
      <p:sp>
        <p:nvSpPr>
          <p:cNvPr id="54" name="Rectangle 53"/>
          <p:cNvSpPr/>
          <p:nvPr/>
        </p:nvSpPr>
        <p:spPr>
          <a:xfrm>
            <a:off x="5669280" y="5504688"/>
            <a:ext cx="320040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42432" y="5550408"/>
            <a:ext cx="3108960" cy="274320"/>
          </a:xfrm>
          <a:prstGeom prst="rect">
            <a:avLst/>
          </a:prstGeom>
          <a:noFill/>
        </p:spPr>
        <p:txBody>
          <a:bodyPr wrap="square">
            <a:spAutoFit/>
          </a:bodyPr>
          <a:lstStyle/>
          <a:p>
            <a:pPr algn="l"/>
            <a:r>
              <a:rPr sz="1000" b="0" i="0">
                <a:solidFill>
                  <a:srgbClr val="737373"/>
                </a:solidFill>
                <a:latin typeface="Arial"/>
              </a:rPr>
              <a:t>20-35 roles</a:t>
            </a:r>
          </a:p>
        </p:txBody>
      </p:sp>
      <p:sp>
        <p:nvSpPr>
          <p:cNvPr id="56" name="Rectangle 55"/>
          <p:cNvSpPr/>
          <p:nvPr/>
        </p:nvSpPr>
        <p:spPr>
          <a:xfrm>
            <a:off x="9052560" y="5504688"/>
            <a:ext cx="2926080" cy="347472"/>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25712" y="5550408"/>
            <a:ext cx="2834640" cy="274320"/>
          </a:xfrm>
          <a:prstGeom prst="rect">
            <a:avLst/>
          </a:prstGeom>
          <a:noFill/>
        </p:spPr>
        <p:txBody>
          <a:bodyPr wrap="square">
            <a:spAutoFit/>
          </a:bodyPr>
          <a:lstStyle/>
          <a:p>
            <a:pPr algn="l"/>
            <a:r>
              <a:rPr sz="1000" b="0" i="0">
                <a:solidFill>
                  <a:srgbClr val="737373"/>
                </a:solidFill>
                <a:latin typeface="Arial"/>
              </a:rPr>
              <a:t>$9M-$16M</a:t>
            </a:r>
          </a:p>
        </p:txBody>
      </p:sp>
      <p:sp>
        <p:nvSpPr>
          <p:cNvPr id="58" name="Rectangle 57"/>
          <p:cNvSpPr/>
          <p:nvPr/>
        </p:nvSpPr>
        <p:spPr>
          <a:xfrm>
            <a:off x="731520" y="5888736"/>
            <a:ext cx="4754880" cy="347472"/>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4672" y="5934456"/>
            <a:ext cx="4663440" cy="274320"/>
          </a:xfrm>
          <a:prstGeom prst="rect">
            <a:avLst/>
          </a:prstGeom>
          <a:noFill/>
        </p:spPr>
        <p:txBody>
          <a:bodyPr wrap="square">
            <a:spAutoFit/>
          </a:bodyPr>
          <a:lstStyle/>
          <a:p>
            <a:pPr algn="l"/>
            <a:r>
              <a:rPr sz="1200" b="1" i="0">
                <a:solidFill>
                  <a:srgbClr val="FFFFFF"/>
                </a:solidFill>
                <a:latin typeface="Arial"/>
              </a:rPr>
              <a:t>REGION TOTAL (12 AGENTS)</a:t>
            </a:r>
          </a:p>
        </p:txBody>
      </p:sp>
      <p:sp>
        <p:nvSpPr>
          <p:cNvPr id="60" name="Rectangle 59"/>
          <p:cNvSpPr/>
          <p:nvPr/>
        </p:nvSpPr>
        <p:spPr>
          <a:xfrm>
            <a:off x="5669280" y="5888736"/>
            <a:ext cx="3200400" cy="347472"/>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742432" y="5934456"/>
            <a:ext cx="3108960" cy="274320"/>
          </a:xfrm>
          <a:prstGeom prst="rect">
            <a:avLst/>
          </a:prstGeom>
          <a:noFill/>
        </p:spPr>
        <p:txBody>
          <a:bodyPr wrap="square">
            <a:spAutoFit/>
          </a:bodyPr>
          <a:lstStyle/>
          <a:p>
            <a:pPr algn="l"/>
            <a:r>
              <a:rPr sz="1200" b="1" i="0">
                <a:solidFill>
                  <a:srgbClr val="FFFFFF"/>
                </a:solidFill>
                <a:latin typeface="Arial"/>
              </a:rPr>
              <a:t>190-330 roles</a:t>
            </a:r>
          </a:p>
        </p:txBody>
      </p:sp>
      <p:sp>
        <p:nvSpPr>
          <p:cNvPr id="62" name="Rectangle 61"/>
          <p:cNvSpPr/>
          <p:nvPr/>
        </p:nvSpPr>
        <p:spPr>
          <a:xfrm>
            <a:off x="9052560" y="5888736"/>
            <a:ext cx="2926080" cy="347472"/>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25712" y="5934456"/>
            <a:ext cx="2834640" cy="274320"/>
          </a:xfrm>
          <a:prstGeom prst="rect">
            <a:avLst/>
          </a:prstGeom>
          <a:noFill/>
        </p:spPr>
        <p:txBody>
          <a:bodyPr wrap="square">
            <a:spAutoFit/>
          </a:bodyPr>
          <a:lstStyle/>
          <a:p>
            <a:pPr algn="l"/>
            <a:r>
              <a:rPr sz="1200" b="1" i="0">
                <a:solidFill>
                  <a:srgbClr val="22D3EE"/>
                </a:solidFill>
                <a:latin typeface="Arial"/>
              </a:rPr>
              <a:t>$91M-$162M</a:t>
            </a:r>
          </a:p>
        </p:txBody>
      </p:sp>
      <p:sp>
        <p:nvSpPr>
          <p:cNvPr id="64" name="TextBox 63"/>
          <p:cNvSpPr txBox="1"/>
          <p:nvPr/>
        </p:nvSpPr>
        <p:spPr>
          <a:xfrm>
            <a:off x="731520" y="6327648"/>
            <a:ext cx="10515600" cy="320040"/>
          </a:xfrm>
          <a:prstGeom prst="rect">
            <a:avLst/>
          </a:prstGeom>
          <a:noFill/>
        </p:spPr>
        <p:txBody>
          <a:bodyPr wrap="square">
            <a:spAutoFit/>
          </a:bodyPr>
          <a:lstStyle/>
          <a:p>
            <a:pPr algn="l"/>
            <a:r>
              <a:rPr sz="1100" b="0" i="0">
                <a:solidFill>
                  <a:srgbClr val="373737"/>
                </a:solidFill>
                <a:latin typeface="Arial"/>
              </a:rPr>
              <a:t>Deployment cost: $2M-$4M   |   Net savings: $87M-$158M   |   Payback: 45-60 days</a:t>
            </a:r>
          </a:p>
        </p:txBody>
      </p:sp>
      <p:sp>
        <p:nvSpPr>
          <p:cNvPr id="65" name="TextBox 6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FULL SCALE IMPACT</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Nationwide deployment.</a:t>
            </a:r>
          </a:p>
          <a:p>
            <a:r>
              <a:rPr sz="3800" b="1">
                <a:solidFill>
                  <a:srgbClr val="22D3EE"/>
                </a:solidFill>
                <a:latin typeface="Arial"/>
              </a:rPr>
              <a:t>$1.2 billion at full scale.</a:t>
            </a:r>
          </a:p>
        </p:txBody>
      </p:sp>
      <p:sp>
        <p:nvSpPr>
          <p:cNvPr id="4" name="Rectangle 3"/>
          <p:cNvSpPr/>
          <p:nvPr/>
        </p:nvSpPr>
        <p:spPr>
          <a:xfrm>
            <a:off x="731520" y="2743200"/>
            <a:ext cx="11155680" cy="10058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743200"/>
            <a:ext cx="111556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80360"/>
            <a:ext cx="4572000" cy="411480"/>
          </a:xfrm>
          <a:prstGeom prst="rect">
            <a:avLst/>
          </a:prstGeom>
          <a:noFill/>
        </p:spPr>
        <p:txBody>
          <a:bodyPr wrap="square">
            <a:spAutoFit/>
          </a:bodyPr>
          <a:lstStyle/>
          <a:p>
            <a:pPr algn="l"/>
            <a:r>
              <a:rPr sz="2000" b="1" i="0">
                <a:solidFill>
                  <a:srgbClr val="FFFFFF"/>
                </a:solidFill>
                <a:latin typeface="Arial"/>
              </a:rPr>
              <a:t>Single Location Pilot</a:t>
            </a:r>
          </a:p>
        </p:txBody>
      </p:sp>
      <p:sp>
        <p:nvSpPr>
          <p:cNvPr id="7" name="TextBox 6"/>
          <p:cNvSpPr txBox="1"/>
          <p:nvPr/>
        </p:nvSpPr>
        <p:spPr>
          <a:xfrm>
            <a:off x="5669280" y="2880360"/>
            <a:ext cx="2743200" cy="411480"/>
          </a:xfrm>
          <a:prstGeom prst="rect">
            <a:avLst/>
          </a:prstGeom>
          <a:noFill/>
        </p:spPr>
        <p:txBody>
          <a:bodyPr wrap="square">
            <a:spAutoFit/>
          </a:bodyPr>
          <a:lstStyle/>
          <a:p>
            <a:pPr algn="l"/>
            <a:r>
              <a:rPr sz="1500" b="0" i="0">
                <a:solidFill>
                  <a:srgbClr val="737373"/>
                </a:solidFill>
                <a:latin typeface="Arial"/>
              </a:rPr>
              <a:t>20-40 roles replaced</a:t>
            </a:r>
          </a:p>
        </p:txBody>
      </p:sp>
      <p:sp>
        <p:nvSpPr>
          <p:cNvPr id="8" name="TextBox 7"/>
          <p:cNvSpPr txBox="1"/>
          <p:nvPr/>
        </p:nvSpPr>
        <p:spPr>
          <a:xfrm>
            <a:off x="8595360" y="2880360"/>
            <a:ext cx="3108960" cy="411480"/>
          </a:xfrm>
          <a:prstGeom prst="rect">
            <a:avLst/>
          </a:prstGeom>
          <a:noFill/>
        </p:spPr>
        <p:txBody>
          <a:bodyPr wrap="square">
            <a:spAutoFit/>
          </a:bodyPr>
          <a:lstStyle/>
          <a:p>
            <a:pPr algn="l"/>
            <a:r>
              <a:rPr sz="2200" b="1" i="0">
                <a:solidFill>
                  <a:srgbClr val="22D3EE"/>
                </a:solidFill>
                <a:latin typeface="Arial"/>
              </a:rPr>
              <a:t>$5M-$10M / year</a:t>
            </a:r>
          </a:p>
        </p:txBody>
      </p:sp>
      <p:sp>
        <p:nvSpPr>
          <p:cNvPr id="9" name="Rectangle 8"/>
          <p:cNvSpPr/>
          <p:nvPr/>
        </p:nvSpPr>
        <p:spPr>
          <a:xfrm>
            <a:off x="731520" y="3931920"/>
            <a:ext cx="11155680" cy="10058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931920"/>
            <a:ext cx="111556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69080"/>
            <a:ext cx="4572000" cy="411480"/>
          </a:xfrm>
          <a:prstGeom prst="rect">
            <a:avLst/>
          </a:prstGeom>
          <a:noFill/>
        </p:spPr>
        <p:txBody>
          <a:bodyPr wrap="square">
            <a:spAutoFit/>
          </a:bodyPr>
          <a:lstStyle/>
          <a:p>
            <a:pPr algn="l"/>
            <a:r>
              <a:rPr sz="2000" b="1" i="0">
                <a:solidFill>
                  <a:srgbClr val="FFFFFF"/>
                </a:solidFill>
                <a:latin typeface="Arial"/>
              </a:rPr>
              <a:t>Regional Deployment</a:t>
            </a:r>
          </a:p>
        </p:txBody>
      </p:sp>
      <p:sp>
        <p:nvSpPr>
          <p:cNvPr id="12" name="TextBox 11"/>
          <p:cNvSpPr txBox="1"/>
          <p:nvPr/>
        </p:nvSpPr>
        <p:spPr>
          <a:xfrm>
            <a:off x="5669280" y="4069080"/>
            <a:ext cx="2743200" cy="411480"/>
          </a:xfrm>
          <a:prstGeom prst="rect">
            <a:avLst/>
          </a:prstGeom>
          <a:noFill/>
        </p:spPr>
        <p:txBody>
          <a:bodyPr wrap="square">
            <a:spAutoFit/>
          </a:bodyPr>
          <a:lstStyle/>
          <a:p>
            <a:pPr algn="l"/>
            <a:r>
              <a:rPr sz="1500" b="0" i="0">
                <a:solidFill>
                  <a:srgbClr val="737373"/>
                </a:solidFill>
                <a:latin typeface="Arial"/>
              </a:rPr>
              <a:t>190-330 roles replaced</a:t>
            </a:r>
          </a:p>
        </p:txBody>
      </p:sp>
      <p:sp>
        <p:nvSpPr>
          <p:cNvPr id="13" name="TextBox 12"/>
          <p:cNvSpPr txBox="1"/>
          <p:nvPr/>
        </p:nvSpPr>
        <p:spPr>
          <a:xfrm>
            <a:off x="8595360" y="4069080"/>
            <a:ext cx="3108960" cy="411480"/>
          </a:xfrm>
          <a:prstGeom prst="rect">
            <a:avLst/>
          </a:prstGeom>
          <a:noFill/>
        </p:spPr>
        <p:txBody>
          <a:bodyPr wrap="square">
            <a:spAutoFit/>
          </a:bodyPr>
          <a:lstStyle/>
          <a:p>
            <a:pPr algn="l"/>
            <a:r>
              <a:rPr sz="2200" b="1" i="0">
                <a:solidFill>
                  <a:srgbClr val="22D3EE"/>
                </a:solidFill>
                <a:latin typeface="Arial"/>
              </a:rPr>
              <a:t>$182M-$324M / year</a:t>
            </a:r>
          </a:p>
        </p:txBody>
      </p:sp>
      <p:sp>
        <p:nvSpPr>
          <p:cNvPr id="14" name="Rectangle 13"/>
          <p:cNvSpPr/>
          <p:nvPr/>
        </p:nvSpPr>
        <p:spPr>
          <a:xfrm>
            <a:off x="731520" y="5120640"/>
            <a:ext cx="11155680" cy="10058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5120640"/>
            <a:ext cx="111556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257800"/>
            <a:ext cx="4572000" cy="411480"/>
          </a:xfrm>
          <a:prstGeom prst="rect">
            <a:avLst/>
          </a:prstGeom>
          <a:noFill/>
        </p:spPr>
        <p:txBody>
          <a:bodyPr wrap="square">
            <a:spAutoFit/>
          </a:bodyPr>
          <a:lstStyle/>
          <a:p>
            <a:pPr algn="l"/>
            <a:r>
              <a:rPr sz="2000" b="1" i="0">
                <a:solidFill>
                  <a:srgbClr val="FFFFFF"/>
                </a:solidFill>
                <a:latin typeface="Arial"/>
              </a:rPr>
              <a:t>Full US Network (500+ locations)</a:t>
            </a:r>
          </a:p>
        </p:txBody>
      </p:sp>
      <p:sp>
        <p:nvSpPr>
          <p:cNvPr id="17" name="TextBox 16"/>
          <p:cNvSpPr txBox="1"/>
          <p:nvPr/>
        </p:nvSpPr>
        <p:spPr>
          <a:xfrm>
            <a:off x="5669280" y="5257800"/>
            <a:ext cx="2743200" cy="411480"/>
          </a:xfrm>
          <a:prstGeom prst="rect">
            <a:avLst/>
          </a:prstGeom>
          <a:noFill/>
        </p:spPr>
        <p:txBody>
          <a:bodyPr wrap="square">
            <a:spAutoFit/>
          </a:bodyPr>
          <a:lstStyle/>
          <a:p>
            <a:pPr algn="l"/>
            <a:r>
              <a:rPr sz="1500" b="0" i="0">
                <a:solidFill>
                  <a:srgbClr val="737373"/>
                </a:solidFill>
                <a:latin typeface="Arial"/>
              </a:rPr>
              <a:t>6,000-12,000+ roles replaced</a:t>
            </a:r>
          </a:p>
        </p:txBody>
      </p:sp>
      <p:sp>
        <p:nvSpPr>
          <p:cNvPr id="18" name="TextBox 17"/>
          <p:cNvSpPr txBox="1"/>
          <p:nvPr/>
        </p:nvSpPr>
        <p:spPr>
          <a:xfrm>
            <a:off x="8595360" y="5257800"/>
            <a:ext cx="3108960" cy="411480"/>
          </a:xfrm>
          <a:prstGeom prst="rect">
            <a:avLst/>
          </a:prstGeom>
          <a:noFill/>
        </p:spPr>
        <p:txBody>
          <a:bodyPr wrap="square">
            <a:spAutoFit/>
          </a:bodyPr>
          <a:lstStyle/>
          <a:p>
            <a:pPr algn="l"/>
            <a:r>
              <a:rPr sz="2200" b="1" i="0">
                <a:solidFill>
                  <a:srgbClr val="22D3EE"/>
                </a:solidFill>
                <a:latin typeface="Arial"/>
              </a:rPr>
              <a:t>$1.2B-$2.4B / year</a:t>
            </a:r>
          </a:p>
        </p:txBody>
      </p:sp>
      <p:sp>
        <p:nvSpPr>
          <p:cNvPr id="19" name="TextBox 18"/>
          <p:cNvSpPr txBox="1"/>
          <p:nvPr/>
        </p:nvSpPr>
        <p:spPr>
          <a:xfrm>
            <a:off x="731520" y="6400800"/>
            <a:ext cx="10515600" cy="320040"/>
          </a:xfrm>
          <a:prstGeom prst="rect">
            <a:avLst/>
          </a:prstGeom>
          <a:noFill/>
        </p:spPr>
        <p:txBody>
          <a:bodyPr wrap="square">
            <a:spAutoFit/>
          </a:bodyPr>
          <a:lstStyle/>
          <a:p>
            <a:pPr algn="l"/>
            <a:r>
              <a:rPr sz="1100" b="0" i="1">
                <a:solidFill>
                  <a:srgbClr val="373737"/>
                </a:solidFill>
                <a:latin typeface="Arial"/>
              </a:rPr>
              <a:t>Based on 15-20% of 63,000 employees in coordination and back-office functions. 12 agents per location.</a:t>
            </a:r>
          </a:p>
        </p:txBody>
      </p:sp>
      <p:sp>
        <p:nvSpPr>
          <p:cNvPr id="20" name="TextBox 19"/>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DEPLOYMENT PLAN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One location in 30 days.</a:t>
            </a:r>
          </a:p>
          <a:p>
            <a:r>
              <a:rPr sz="3800" b="1">
                <a:solidFill>
                  <a:srgbClr val="22D3EE"/>
                </a:solidFill>
                <a:latin typeface="Arial"/>
              </a:rPr>
              <a:t>National rollout in 12 months.</a:t>
            </a:r>
          </a:p>
        </p:txBody>
      </p:sp>
      <p:sp>
        <p:nvSpPr>
          <p:cNvPr id="4" name="Rectangle 3"/>
          <p:cNvSpPr/>
          <p:nvPr/>
        </p:nvSpPr>
        <p:spPr>
          <a:xfrm>
            <a:off x="73152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56032"/>
          </a:xfrm>
          <a:prstGeom prst="rect">
            <a:avLst/>
          </a:prstGeom>
          <a:noFill/>
        </p:spPr>
        <p:txBody>
          <a:bodyPr wrap="square">
            <a:spAutoFit/>
          </a:bodyPr>
          <a:lstStyle/>
          <a:p>
            <a:pPr algn="l"/>
            <a:r>
              <a:rPr sz="1000" b="1" i="0">
                <a:solidFill>
                  <a:srgbClr val="22D3EE"/>
                </a:solidFill>
                <a:latin typeface="Arial"/>
              </a:rPr>
              <a:t>PHASE 1 — DAYS 1-30</a:t>
            </a:r>
          </a:p>
        </p:txBody>
      </p:sp>
      <p:sp>
        <p:nvSpPr>
          <p:cNvPr id="7" name="TextBox 6"/>
          <p:cNvSpPr txBox="1"/>
          <p:nvPr/>
        </p:nvSpPr>
        <p:spPr>
          <a:xfrm>
            <a:off x="914400" y="3090672"/>
            <a:ext cx="3200400" cy="411480"/>
          </a:xfrm>
          <a:prstGeom prst="rect">
            <a:avLst/>
          </a:prstGeom>
          <a:noFill/>
        </p:spPr>
        <p:txBody>
          <a:bodyPr wrap="square">
            <a:spAutoFit/>
          </a:bodyPr>
          <a:lstStyle/>
          <a:p>
            <a:pPr algn="l"/>
            <a:r>
              <a:rPr sz="1700" b="1" i="0">
                <a:solidFill>
                  <a:srgbClr val="FFFFFF"/>
                </a:solidFill>
                <a:latin typeface="Arial"/>
              </a:rPr>
              <a:t>Single Location Pilot</a:t>
            </a:r>
          </a:p>
        </p:txBody>
      </p:sp>
      <p:sp>
        <p:nvSpPr>
          <p:cNvPr id="8" name="TextBox 7"/>
          <p:cNvSpPr txBox="1"/>
          <p:nvPr/>
        </p:nvSpPr>
        <p:spPr>
          <a:xfrm>
            <a:off x="914400" y="3611880"/>
            <a:ext cx="3200400" cy="1234440"/>
          </a:xfrm>
          <a:prstGeom prst="rect">
            <a:avLst/>
          </a:prstGeom>
          <a:noFill/>
        </p:spPr>
        <p:txBody>
          <a:bodyPr wrap="square">
            <a:spAutoFit/>
          </a:bodyPr>
          <a:lstStyle/>
          <a:p>
            <a:pPr algn="l"/>
            <a:r>
              <a:rPr sz="1200" b="0" i="0">
                <a:solidFill>
                  <a:srgbClr val="737373"/>
                </a:solidFill>
                <a:latin typeface="Arial"/>
              </a:rPr>
              <a:t>All 12 agents deployed at one location. Success metrics defined upfront. Full operational dashboard live. First results visible before any broader commitment.</a:t>
            </a:r>
          </a:p>
        </p:txBody>
      </p:sp>
      <p:sp>
        <p:nvSpPr>
          <p:cNvPr id="9" name="TextBox 8"/>
          <p:cNvSpPr txBox="1"/>
          <p:nvPr/>
        </p:nvSpPr>
        <p:spPr>
          <a:xfrm>
            <a:off x="914400" y="5440680"/>
            <a:ext cx="3200400" cy="457200"/>
          </a:xfrm>
          <a:prstGeom prst="rect">
            <a:avLst/>
          </a:prstGeom>
          <a:noFill/>
        </p:spPr>
        <p:txBody>
          <a:bodyPr wrap="square">
            <a:spAutoFit/>
          </a:bodyPr>
          <a:lstStyle/>
          <a:p>
            <a:pPr algn="l"/>
            <a:r>
              <a:rPr sz="1800" b="1" i="0">
                <a:solidFill>
                  <a:srgbClr val="22D3EE"/>
                </a:solidFill>
                <a:latin typeface="Arial"/>
              </a:rPr>
              <a:t>$5M-$10M/yr</a:t>
            </a:r>
          </a:p>
        </p:txBody>
      </p:sp>
      <p:sp>
        <p:nvSpPr>
          <p:cNvPr id="10" name="Rectangle 9"/>
          <p:cNvSpPr/>
          <p:nvPr/>
        </p:nvSpPr>
        <p:spPr>
          <a:xfrm>
            <a:off x="452628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56032"/>
          </a:xfrm>
          <a:prstGeom prst="rect">
            <a:avLst/>
          </a:prstGeom>
          <a:noFill/>
        </p:spPr>
        <p:txBody>
          <a:bodyPr wrap="square">
            <a:spAutoFit/>
          </a:bodyPr>
          <a:lstStyle/>
          <a:p>
            <a:pPr algn="l"/>
            <a:r>
              <a:rPr sz="1000" b="1" i="0">
                <a:solidFill>
                  <a:srgbClr val="22D3EE"/>
                </a:solidFill>
                <a:latin typeface="Arial"/>
              </a:rPr>
              <a:t>PHASE 2 — MONTHS 2-6</a:t>
            </a:r>
          </a:p>
        </p:txBody>
      </p:sp>
      <p:sp>
        <p:nvSpPr>
          <p:cNvPr id="13" name="TextBox 12"/>
          <p:cNvSpPr txBox="1"/>
          <p:nvPr/>
        </p:nvSpPr>
        <p:spPr>
          <a:xfrm>
            <a:off x="4709160" y="3090672"/>
            <a:ext cx="3200400" cy="411480"/>
          </a:xfrm>
          <a:prstGeom prst="rect">
            <a:avLst/>
          </a:prstGeom>
          <a:noFill/>
        </p:spPr>
        <p:txBody>
          <a:bodyPr wrap="square">
            <a:spAutoFit/>
          </a:bodyPr>
          <a:lstStyle/>
          <a:p>
            <a:pPr algn="l"/>
            <a:r>
              <a:rPr sz="1700" b="1" i="0">
                <a:solidFill>
                  <a:srgbClr val="FFFFFF"/>
                </a:solidFill>
                <a:latin typeface="Arial"/>
              </a:rPr>
              <a:t>Regional Rollout</a:t>
            </a:r>
          </a:p>
        </p:txBody>
      </p:sp>
      <p:sp>
        <p:nvSpPr>
          <p:cNvPr id="14" name="TextBox 13"/>
          <p:cNvSpPr txBox="1"/>
          <p:nvPr/>
        </p:nvSpPr>
        <p:spPr>
          <a:xfrm>
            <a:off x="4709160" y="3611880"/>
            <a:ext cx="3200400" cy="1234440"/>
          </a:xfrm>
          <a:prstGeom prst="rect">
            <a:avLst/>
          </a:prstGeom>
          <a:noFill/>
        </p:spPr>
        <p:txBody>
          <a:bodyPr wrap="square">
            <a:spAutoFit/>
          </a:bodyPr>
          <a:lstStyle/>
          <a:p>
            <a:pPr algn="l"/>
            <a:r>
              <a:rPr sz="1200" b="0" i="0">
                <a:solidFill>
                  <a:srgbClr val="737373"/>
                </a:solidFill>
                <a:latin typeface="Arial"/>
              </a:rPr>
              <a:t>Proven model replicated across a full region. 50-100 locations. Same 12-agent configuration scaled. Dedicated Devolution Labs operations team assigned.</a:t>
            </a:r>
          </a:p>
        </p:txBody>
      </p:sp>
      <p:sp>
        <p:nvSpPr>
          <p:cNvPr id="15" name="TextBox 14"/>
          <p:cNvSpPr txBox="1"/>
          <p:nvPr/>
        </p:nvSpPr>
        <p:spPr>
          <a:xfrm>
            <a:off x="4709160" y="5440680"/>
            <a:ext cx="3200400" cy="457200"/>
          </a:xfrm>
          <a:prstGeom prst="rect">
            <a:avLst/>
          </a:prstGeom>
          <a:noFill/>
        </p:spPr>
        <p:txBody>
          <a:bodyPr wrap="square">
            <a:spAutoFit/>
          </a:bodyPr>
          <a:lstStyle/>
          <a:p>
            <a:pPr algn="l"/>
            <a:r>
              <a:rPr sz="1800" b="1" i="0">
                <a:solidFill>
                  <a:srgbClr val="22D3EE"/>
                </a:solidFill>
                <a:latin typeface="Arial"/>
              </a:rPr>
              <a:t>$182M-$324M/yr</a:t>
            </a:r>
          </a:p>
        </p:txBody>
      </p:sp>
      <p:sp>
        <p:nvSpPr>
          <p:cNvPr id="16" name="Rectangle 15"/>
          <p:cNvSpPr/>
          <p:nvPr/>
        </p:nvSpPr>
        <p:spPr>
          <a:xfrm>
            <a:off x="832104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56032"/>
          </a:xfrm>
          <a:prstGeom prst="rect">
            <a:avLst/>
          </a:prstGeom>
          <a:noFill/>
        </p:spPr>
        <p:txBody>
          <a:bodyPr wrap="square">
            <a:spAutoFit/>
          </a:bodyPr>
          <a:lstStyle/>
          <a:p>
            <a:pPr algn="l"/>
            <a:r>
              <a:rPr sz="1000" b="1" i="0">
                <a:solidFill>
                  <a:srgbClr val="22D3EE"/>
                </a:solidFill>
                <a:latin typeface="Arial"/>
              </a:rPr>
              <a:t>PHASE 3 — MONTH 7+</a:t>
            </a:r>
          </a:p>
        </p:txBody>
      </p:sp>
      <p:sp>
        <p:nvSpPr>
          <p:cNvPr id="19" name="TextBox 18"/>
          <p:cNvSpPr txBox="1"/>
          <p:nvPr/>
        </p:nvSpPr>
        <p:spPr>
          <a:xfrm>
            <a:off x="8503920" y="3090672"/>
            <a:ext cx="3200400" cy="411480"/>
          </a:xfrm>
          <a:prstGeom prst="rect">
            <a:avLst/>
          </a:prstGeom>
          <a:noFill/>
        </p:spPr>
        <p:txBody>
          <a:bodyPr wrap="square">
            <a:spAutoFit/>
          </a:bodyPr>
          <a:lstStyle/>
          <a:p>
            <a:pPr algn="l"/>
            <a:r>
              <a:rPr sz="1700" b="1" i="0">
                <a:solidFill>
                  <a:srgbClr val="FFFFFF"/>
                </a:solidFill>
                <a:latin typeface="Arial"/>
              </a:rPr>
              <a:t>National Network</a:t>
            </a:r>
          </a:p>
        </p:txBody>
      </p:sp>
      <p:sp>
        <p:nvSpPr>
          <p:cNvPr id="20" name="TextBox 19"/>
          <p:cNvSpPr txBox="1"/>
          <p:nvPr/>
        </p:nvSpPr>
        <p:spPr>
          <a:xfrm>
            <a:off x="8503920" y="3611880"/>
            <a:ext cx="3200400" cy="1234440"/>
          </a:xfrm>
          <a:prstGeom prst="rect">
            <a:avLst/>
          </a:prstGeom>
          <a:noFill/>
        </p:spPr>
        <p:txBody>
          <a:bodyPr wrap="square">
            <a:spAutoFit/>
          </a:bodyPr>
          <a:lstStyle/>
          <a:p>
            <a:pPr algn="l"/>
            <a:r>
              <a:rPr sz="1200" b="0" i="0">
                <a:solidFill>
                  <a:srgbClr val="737373"/>
                </a:solidFill>
                <a:latin typeface="Arial"/>
              </a:rPr>
              <a:t>Full deployment across all US locations. Annual managed service agreements. Platform ownership option available at any point.</a:t>
            </a:r>
          </a:p>
        </p:txBody>
      </p:sp>
      <p:sp>
        <p:nvSpPr>
          <p:cNvPr id="21" name="TextBox 20"/>
          <p:cNvSpPr txBox="1"/>
          <p:nvPr/>
        </p:nvSpPr>
        <p:spPr>
          <a:xfrm>
            <a:off x="8503920" y="5440680"/>
            <a:ext cx="3200400" cy="457200"/>
          </a:xfrm>
          <a:prstGeom prst="rect">
            <a:avLst/>
          </a:prstGeom>
          <a:noFill/>
        </p:spPr>
        <p:txBody>
          <a:bodyPr wrap="square">
            <a:spAutoFit/>
          </a:bodyPr>
          <a:lstStyle/>
          <a:p>
            <a:pPr algn="l"/>
            <a:r>
              <a:rPr sz="1800" b="1" i="0">
                <a:solidFill>
                  <a:srgbClr val="22D3EE"/>
                </a:solidFill>
                <a:latin typeface="Arial"/>
              </a:rPr>
              <a:t>$1.2B-$2.4B/yr</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WHY DEVOLUTION LABS</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Not software you manage.</a:t>
            </a:r>
          </a:p>
          <a:p>
            <a:r>
              <a:rPr sz="3800" b="1">
                <a:solidFill>
                  <a:srgbClr val="22D3EE"/>
                </a:solidFill>
                <a:latin typeface="Arial"/>
              </a:rPr>
              <a:t>A workforce we operate for you.</a:t>
            </a:r>
          </a:p>
        </p:txBody>
      </p:sp>
      <p:sp>
        <p:nvSpPr>
          <p:cNvPr id="4" name="Rectangle 3"/>
          <p:cNvSpPr/>
          <p:nvPr/>
        </p:nvSpPr>
        <p:spPr>
          <a:xfrm>
            <a:off x="731520" y="269748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862072"/>
            <a:ext cx="4937760" cy="365760"/>
          </a:xfrm>
          <a:prstGeom prst="rect">
            <a:avLst/>
          </a:prstGeom>
          <a:noFill/>
        </p:spPr>
        <p:txBody>
          <a:bodyPr wrap="square">
            <a:spAutoFit/>
          </a:bodyPr>
          <a:lstStyle/>
          <a:p>
            <a:pPr algn="l"/>
            <a:r>
              <a:rPr sz="1500" b="1" i="0">
                <a:solidFill>
                  <a:srgbClr val="FFFFFF"/>
                </a:solidFill>
                <a:latin typeface="Arial"/>
              </a:rPr>
              <a:t>Runs on your infrastructure</a:t>
            </a:r>
          </a:p>
        </p:txBody>
      </p:sp>
      <p:sp>
        <p:nvSpPr>
          <p:cNvPr id="6" name="TextBox 5"/>
          <p:cNvSpPr txBox="1"/>
          <p:nvPr/>
        </p:nvSpPr>
        <p:spPr>
          <a:xfrm>
            <a:off x="914400" y="3337560"/>
            <a:ext cx="4937760" cy="914400"/>
          </a:xfrm>
          <a:prstGeom prst="rect">
            <a:avLst/>
          </a:prstGeom>
          <a:noFill/>
        </p:spPr>
        <p:txBody>
          <a:bodyPr wrap="square">
            <a:spAutoFit/>
          </a:bodyPr>
          <a:lstStyle/>
          <a:p>
            <a:pPr algn="l"/>
            <a:r>
              <a:rPr sz="1200" b="0" i="0">
                <a:solidFill>
                  <a:srgbClr val="737373"/>
                </a:solidFill>
                <a:latin typeface="Arial"/>
              </a:rPr>
              <a:t>Zero data exposure. Student records and operational data stay inside First Student systems. No third-party cloud access.</a:t>
            </a:r>
          </a:p>
        </p:txBody>
      </p:sp>
      <p:sp>
        <p:nvSpPr>
          <p:cNvPr id="7" name="Rectangle 6"/>
          <p:cNvSpPr/>
          <p:nvPr/>
        </p:nvSpPr>
        <p:spPr>
          <a:xfrm>
            <a:off x="6400800" y="269748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862072"/>
            <a:ext cx="4937760" cy="365760"/>
          </a:xfrm>
          <a:prstGeom prst="rect">
            <a:avLst/>
          </a:prstGeom>
          <a:noFill/>
        </p:spPr>
        <p:txBody>
          <a:bodyPr wrap="square">
            <a:spAutoFit/>
          </a:bodyPr>
          <a:lstStyle/>
          <a:p>
            <a:pPr algn="l"/>
            <a:r>
              <a:rPr sz="1500" b="1" i="0">
                <a:solidFill>
                  <a:srgbClr val="FFFFFF"/>
                </a:solidFill>
                <a:latin typeface="Arial"/>
              </a:rPr>
              <a:t>No IT team required</a:t>
            </a:r>
          </a:p>
        </p:txBody>
      </p:sp>
      <p:sp>
        <p:nvSpPr>
          <p:cNvPr id="9" name="TextBox 8"/>
          <p:cNvSpPr txBox="1"/>
          <p:nvPr/>
        </p:nvSpPr>
        <p:spPr>
          <a:xfrm>
            <a:off x="6583680" y="3337560"/>
            <a:ext cx="4937760" cy="914400"/>
          </a:xfrm>
          <a:prstGeom prst="rect">
            <a:avLst/>
          </a:prstGeom>
          <a:noFill/>
        </p:spPr>
        <p:txBody>
          <a:bodyPr wrap="square">
            <a:spAutoFit/>
          </a:bodyPr>
          <a:lstStyle/>
          <a:p>
            <a:pPr algn="l"/>
            <a:r>
              <a:rPr sz="1200" b="0" i="0">
                <a:solidFill>
                  <a:srgbClr val="737373"/>
                </a:solidFill>
                <a:latin typeface="Arial"/>
              </a:rPr>
              <a:t>Devolution Labs handles full deployment and ongoing operations. Your team manages outcomes, not technology.</a:t>
            </a:r>
          </a:p>
        </p:txBody>
      </p:sp>
      <p:sp>
        <p:nvSpPr>
          <p:cNvPr id="10" name="Rectangle 9"/>
          <p:cNvSpPr/>
          <p:nvPr/>
        </p:nvSpPr>
        <p:spPr>
          <a:xfrm>
            <a:off x="731520" y="461772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782312"/>
            <a:ext cx="4937760" cy="365760"/>
          </a:xfrm>
          <a:prstGeom prst="rect">
            <a:avLst/>
          </a:prstGeom>
          <a:noFill/>
        </p:spPr>
        <p:txBody>
          <a:bodyPr wrap="square">
            <a:spAutoFit/>
          </a:bodyPr>
          <a:lstStyle/>
          <a:p>
            <a:pPr algn="l"/>
            <a:r>
              <a:rPr sz="1500" b="1" i="0">
                <a:solidFill>
                  <a:srgbClr val="FFFFFF"/>
                </a:solidFill>
                <a:latin typeface="Arial"/>
              </a:rPr>
              <a:t>Drivers keep driving</a:t>
            </a:r>
          </a:p>
        </p:txBody>
      </p:sp>
      <p:sp>
        <p:nvSpPr>
          <p:cNvPr id="12" name="TextBox 11"/>
          <p:cNvSpPr txBox="1"/>
          <p:nvPr/>
        </p:nvSpPr>
        <p:spPr>
          <a:xfrm>
            <a:off x="914400" y="5257800"/>
            <a:ext cx="4937760" cy="914400"/>
          </a:xfrm>
          <a:prstGeom prst="rect">
            <a:avLst/>
          </a:prstGeom>
          <a:noFill/>
        </p:spPr>
        <p:txBody>
          <a:bodyPr wrap="square">
            <a:spAutoFit/>
          </a:bodyPr>
          <a:lstStyle/>
          <a:p>
            <a:pPr algn="l"/>
            <a:r>
              <a:rPr sz="1200" b="0" i="0">
                <a:solidFill>
                  <a:srgbClr val="737373"/>
                </a:solidFill>
                <a:latin typeface="Arial"/>
              </a:rPr>
              <a:t>The hands-on workforce stays entirely. Drivers, mechanics, and route supervisors are not replaced.</a:t>
            </a:r>
          </a:p>
        </p:txBody>
      </p:sp>
      <p:sp>
        <p:nvSpPr>
          <p:cNvPr id="13" name="Rectangle 12"/>
          <p:cNvSpPr/>
          <p:nvPr/>
        </p:nvSpPr>
        <p:spPr>
          <a:xfrm>
            <a:off x="6400800" y="461772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782312"/>
            <a:ext cx="4937760" cy="365760"/>
          </a:xfrm>
          <a:prstGeom prst="rect">
            <a:avLst/>
          </a:prstGeom>
          <a:noFill/>
        </p:spPr>
        <p:txBody>
          <a:bodyPr wrap="square">
            <a:spAutoFit/>
          </a:bodyPr>
          <a:lstStyle/>
          <a:p>
            <a:pPr algn="l"/>
            <a:r>
              <a:rPr sz="1500" b="1" i="0">
                <a:solidFill>
                  <a:srgbClr val="FFFFFF"/>
                </a:solidFill>
                <a:latin typeface="Arial"/>
              </a:rPr>
              <a:t>Managed service model</a:t>
            </a:r>
          </a:p>
        </p:txBody>
      </p:sp>
      <p:sp>
        <p:nvSpPr>
          <p:cNvPr id="15" name="TextBox 14"/>
          <p:cNvSpPr txBox="1"/>
          <p:nvPr/>
        </p:nvSpPr>
        <p:spPr>
          <a:xfrm>
            <a:off x="6583680" y="5257800"/>
            <a:ext cx="4937760" cy="914400"/>
          </a:xfrm>
          <a:prstGeom prst="rect">
            <a:avLst/>
          </a:prstGeom>
          <a:noFill/>
        </p:spPr>
        <p:txBody>
          <a:bodyPr wrap="square">
            <a:spAutoFit/>
          </a:bodyPr>
          <a:lstStyle/>
          <a:p>
            <a:pPr algn="l"/>
            <a:r>
              <a:rPr sz="1200" b="0" i="0">
                <a:solidFill>
                  <a:srgbClr val="737373"/>
                </a:solidFill>
                <a:latin typeface="Arial"/>
              </a:rPr>
              <a:t>Monthly fee for up to 6 months. Full platform ownership at any time with ongoing support included.</a:t>
            </a:r>
          </a:p>
        </p:txBody>
      </p:sp>
      <p:sp>
        <p:nvSpPr>
          <p:cNvPr id="16" name="TextBox 15"/>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188720"/>
          </a:xfrm>
          <a:prstGeom prst="rect">
            <a:avLst/>
          </a:prstGeom>
          <a:noFill/>
        </p:spPr>
        <p:txBody>
          <a:bodyPr wrap="square">
            <a:spAutoFit/>
          </a:bodyPr>
          <a:lstStyle/>
          <a:p>
            <a:pPr algn="l"/>
            <a:r>
              <a:rPr sz="5200" b="1" i="0">
                <a:solidFill>
                  <a:srgbClr val="22D3EE"/>
                </a:solidFill>
                <a:latin typeface="Arial"/>
              </a:rPr>
              <a:t>12 agents. $1.2B at scale.</a:t>
            </a:r>
          </a:p>
        </p:txBody>
      </p:sp>
      <p:sp>
        <p:nvSpPr>
          <p:cNvPr id="4" name="TextBox 3"/>
          <p:cNvSpPr txBox="1"/>
          <p:nvPr/>
        </p:nvSpPr>
        <p:spPr>
          <a:xfrm>
            <a:off x="731520" y="2468880"/>
            <a:ext cx="10515600" cy="914400"/>
          </a:xfrm>
          <a:prstGeom prst="rect">
            <a:avLst/>
          </a:prstGeom>
          <a:noFill/>
        </p:spPr>
        <p:txBody>
          <a:bodyPr wrap="square">
            <a:spAutoFit/>
          </a:bodyPr>
          <a:lstStyle/>
          <a:p>
            <a:pPr algn="l"/>
            <a:r>
              <a:rPr sz="1600" b="0" i="0">
                <a:solidFill>
                  <a:srgbClr val="737373"/>
                </a:solidFill>
                <a:latin typeface="Arial"/>
              </a:rPr>
              <a:t>63,000 employees. 4.6 million student journeys a day. 500+ locations.
The drivers keep driving. The AI workforce handles everything else.</a:t>
            </a:r>
          </a:p>
        </p:txBody>
      </p:sp>
      <p:sp>
        <p:nvSpPr>
          <p:cNvPr id="5" name="TextBox 4"/>
          <p:cNvSpPr txBox="1"/>
          <p:nvPr/>
        </p:nvSpPr>
        <p:spPr>
          <a:xfrm>
            <a:off x="731520" y="402336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52628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